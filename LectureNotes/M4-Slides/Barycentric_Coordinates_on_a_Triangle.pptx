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6" d="100"/>
          <a:sy n="136" d="100"/>
        </p:scale>
        <p:origin x="251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Barycentric Coordinates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600" b="1" dirty="0"/>
              <a:t>Credit: Based on a bad draft version from ChatGPT</a:t>
            </a:r>
            <a:endParaRPr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position defined by linear combination of weights from vertex positions</a:t>
                </a:r>
              </a:p>
              <a:p>
                <a:r>
                  <a:rPr lang="en-US" dirty="0"/>
                  <a:t>Given triangle vertices A, B, C</a:t>
                </a:r>
              </a:p>
              <a:p>
                <a:pPr lvl="1"/>
                <a:r>
                  <a:rPr lang="en-US" dirty="0"/>
                  <a:t>How do we represent a point P inside the triangle?</a:t>
                </a:r>
              </a:p>
              <a:p>
                <a:pPr lvl="1"/>
                <a:r>
                  <a:rPr lang="en-US" dirty="0"/>
                  <a:t>P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λ</m:t>
                        </m:r>
                      </m:e>
                      <m:sub>
                        <m:r>
                          <a:rPr lang="ar-AE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A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λ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B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λ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C</a:t>
                </a:r>
              </a:p>
              <a:p>
                <a:pPr lvl="2"/>
                <a:r>
                  <a:rPr lang="en-US" dirty="0"/>
                  <a:t>In our example, we used, 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λ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l-GR" dirty="0"/>
                  <a:t>: </a:t>
                </a:r>
                <a:r>
                  <a:rPr lang="en-US" dirty="0"/>
                  <a:t>being the same as 1/3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Interesting Point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47675" y="1600200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λ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A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λ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B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λ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C</a:t>
                </a:r>
              </a:p>
              <a:p>
                <a:pPr marL="457200" lvl="1" indent="0">
                  <a:buNone/>
                </a:pPr>
                <a:r>
                  <a:rPr lang="en-US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λ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λ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λ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dirty="0"/>
                  <a:t>= 1</a:t>
                </a:r>
              </a:p>
              <a:p>
                <a:r>
                  <a:rPr dirty="0"/>
                  <a:t>All λ ≥ 0 → P inside triangle</a:t>
                </a:r>
              </a:p>
              <a:p>
                <a:r>
                  <a:rPr dirty="0"/>
                  <a:t>One λ = 0 → P on edge</a:t>
                </a:r>
              </a:p>
              <a:p>
                <a:r>
                  <a:rPr dirty="0"/>
                  <a:t>Any λ &lt; 0 → P outside</a:t>
                </a:r>
                <a:endParaRPr lang="en-US" dirty="0"/>
              </a:p>
              <a:p>
                <a:r>
                  <a:rPr lang="en-US" dirty="0"/>
                  <a:t>Remember: any point P in the triangle</a:t>
                </a:r>
              </a:p>
              <a:p>
                <a:pPr lvl="1"/>
                <a:r>
                  <a:rPr lang="en-US" dirty="0"/>
                  <a:t>P is given, we want to find the three </a:t>
                </a:r>
                <a:r>
                  <a:rPr lang="el-GR" dirty="0"/>
                  <a:t>λ 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7675" y="1600200"/>
                <a:ext cx="8229600" cy="4525963"/>
              </a:xfrm>
              <a:blipFill>
                <a:blip r:embed="rId2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F08530F2-987C-F5C4-3990-F9E9206BF326}"/>
              </a:ext>
            </a:extLst>
          </p:cNvPr>
          <p:cNvSpPr/>
          <p:nvPr/>
        </p:nvSpPr>
        <p:spPr>
          <a:xfrm>
            <a:off x="5970105" y="990918"/>
            <a:ext cx="2743200" cy="2743200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727B08-380A-21DB-5C3D-1C727AE64AF0}"/>
              </a:ext>
            </a:extLst>
          </p:cNvPr>
          <p:cNvSpPr txBox="1"/>
          <p:nvPr/>
        </p:nvSpPr>
        <p:spPr>
          <a:xfrm>
            <a:off x="7250265" y="625158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AF1899-7561-8235-89B6-E004F4460096}"/>
              </a:ext>
            </a:extLst>
          </p:cNvPr>
          <p:cNvSpPr txBox="1"/>
          <p:nvPr/>
        </p:nvSpPr>
        <p:spPr>
          <a:xfrm>
            <a:off x="5695785" y="3551238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D0C8769-4539-7D0B-1B9F-30FFE25686CF}"/>
              </a:ext>
            </a:extLst>
          </p:cNvPr>
          <p:cNvSpPr/>
          <p:nvPr/>
        </p:nvSpPr>
        <p:spPr>
          <a:xfrm>
            <a:off x="7199555" y="2590800"/>
            <a:ext cx="182880" cy="1828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F8E397A-D1BC-7A94-9834-EAC290AA80AA}"/>
              </a:ext>
            </a:extLst>
          </p:cNvPr>
          <p:cNvSpPr txBox="1"/>
          <p:nvPr/>
        </p:nvSpPr>
        <p:spPr>
          <a:xfrm>
            <a:off x="7382435" y="2407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A80C0D-1D5D-3909-D7BB-7830AF58057B}"/>
              </a:ext>
            </a:extLst>
          </p:cNvPr>
          <p:cNvSpPr txBox="1"/>
          <p:nvPr/>
        </p:nvSpPr>
        <p:spPr>
          <a:xfrm>
            <a:off x="8686800" y="3551556"/>
            <a:ext cx="381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9DB87-B51D-3158-2B26-CB63DAEAA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E6F607-068D-940F-3B6E-FFF061D6C2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98316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P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λ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A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λ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B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λ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C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λ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𝐴𝑟𝑒𝑎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𝑃𝐵𝐶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𝐴𝑟𝑒𝑎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𝐴𝐵𝐶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λ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𝐴𝑟𝑒𝑎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𝑃𝐴𝐶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𝐴𝑟𝑒𝑎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𝐴𝐵𝐶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λ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𝐴𝑟𝑒𝑎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𝑃𝐴𝐵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𝐴𝑟𝑒𝑎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𝐴𝐵𝐶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Remember: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λ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λ</m:t>
                        </m:r>
                      </m:e>
                      <m:sub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λ</m:t>
                        </m:r>
                      </m:e>
                      <m:sub>
                        <m:r>
                          <a:rPr lang="ar-AE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= 1</a:t>
                </a:r>
              </a:p>
              <a:p>
                <a:pPr lvl="1"/>
                <a:r>
                  <a:rPr lang="en-US" dirty="0"/>
                  <a:t>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λ</m:t>
                        </m:r>
                      </m:e>
                      <m:sub>
                        <m:r>
                          <a:rPr lang="ar-AE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λ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λ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(no need to compute)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E6F607-068D-940F-3B6E-FFF061D6C2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983162"/>
              </a:xfrm>
              <a:blipFill>
                <a:blip r:embed="rId2"/>
                <a:stretch>
                  <a:fillRect l="-1852" t="-1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CB612417-59F5-6A80-1D15-D4FB2DEB1079}"/>
              </a:ext>
            </a:extLst>
          </p:cNvPr>
          <p:cNvGrpSpPr/>
          <p:nvPr/>
        </p:nvGrpSpPr>
        <p:grpSpPr>
          <a:xfrm>
            <a:off x="5715395" y="1737360"/>
            <a:ext cx="3372015" cy="3383280"/>
            <a:chOff x="5695785" y="1127760"/>
            <a:chExt cx="3372015" cy="3383280"/>
          </a:xfrm>
        </p:grpSpPr>
        <p:sp>
          <p:nvSpPr>
            <p:cNvPr id="4" name="Isosceles Triangle 3">
              <a:extLst>
                <a:ext uri="{FF2B5EF4-FFF2-40B4-BE49-F238E27FC236}">
                  <a16:creationId xmlns:a16="http://schemas.microsoft.com/office/drawing/2014/main" id="{506822AD-31FD-6DF1-92F7-7BEDB93F9619}"/>
                </a:ext>
              </a:extLst>
            </p:cNvPr>
            <p:cNvSpPr/>
            <p:nvPr/>
          </p:nvSpPr>
          <p:spPr>
            <a:xfrm>
              <a:off x="5970105" y="1493520"/>
              <a:ext cx="2743200" cy="2743200"/>
            </a:xfrm>
            <a:prstGeom prst="triangl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A8A6680-E95F-4CD7-E776-CECF66FAA7BE}"/>
                </a:ext>
              </a:extLst>
            </p:cNvPr>
            <p:cNvSpPr txBox="1"/>
            <p:nvPr/>
          </p:nvSpPr>
          <p:spPr>
            <a:xfrm>
              <a:off x="7250265" y="1127760"/>
              <a:ext cx="9144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t>A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8B901E4-838C-22AA-A9B8-64FBB3698E42}"/>
                </a:ext>
              </a:extLst>
            </p:cNvPr>
            <p:cNvSpPr txBox="1"/>
            <p:nvPr/>
          </p:nvSpPr>
          <p:spPr>
            <a:xfrm>
              <a:off x="5695785" y="4053840"/>
              <a:ext cx="9144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dirty="0"/>
                <a:t>B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75CD6A8-BFDC-C251-BB91-D8ABCCA95A73}"/>
                </a:ext>
              </a:extLst>
            </p:cNvPr>
            <p:cNvSpPr/>
            <p:nvPr/>
          </p:nvSpPr>
          <p:spPr>
            <a:xfrm>
              <a:off x="7199555" y="3093402"/>
              <a:ext cx="182880" cy="18288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6BE36D5-03C9-3024-DC09-41BD403C2621}"/>
                </a:ext>
              </a:extLst>
            </p:cNvPr>
            <p:cNvSpPr txBox="1"/>
            <p:nvPr/>
          </p:nvSpPr>
          <p:spPr>
            <a:xfrm>
              <a:off x="7382435" y="2910522"/>
              <a:ext cx="9144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t>P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3F0FB92-518A-5173-E230-1CA333B6441B}"/>
                </a:ext>
              </a:extLst>
            </p:cNvPr>
            <p:cNvSpPr txBox="1"/>
            <p:nvPr/>
          </p:nvSpPr>
          <p:spPr>
            <a:xfrm>
              <a:off x="8686800" y="4054158"/>
              <a:ext cx="381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C</a:t>
              </a:r>
              <a:endParaRPr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75C9846-BE2A-717A-A6AE-E334AFF49C6E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7290995" y="1584960"/>
              <a:ext cx="31825" cy="150844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B2ACB80-E0F0-4E78-A40F-12CE2E2081E8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 flipH="1">
              <a:off x="5943600" y="3249500"/>
              <a:ext cx="1282737" cy="98722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3BE6388-7D6E-B45E-9B40-BDC8A5647874}"/>
                </a:ext>
              </a:extLst>
            </p:cNvPr>
            <p:cNvCxnSpPr>
              <a:cxnSpLocks/>
              <a:stCxn id="4" idx="4"/>
              <a:endCxn id="7" idx="5"/>
            </p:cNvCxnSpPr>
            <p:nvPr/>
          </p:nvCxnSpPr>
          <p:spPr>
            <a:xfrm flipH="1" flipV="1">
              <a:off x="7355653" y="3249500"/>
              <a:ext cx="1357652" cy="98722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19230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4B15B-9C63-311D-FC4B-CDDCFCC98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E0E2B-A63F-644A-3341-2CE66927B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Area </a:t>
            </a:r>
            <a:r>
              <a:rPr lang="en-US"/>
              <a:t>of Triangle?!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7E7F76-C0A5-FC76-433D-FB9960ADA9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98316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P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λ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A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λ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B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λ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C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Triangle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Area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‖"/>
                        <m:endChr m:val="‖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e>
                        </m:acc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𝐴𝐶</m:t>
                            </m:r>
                          </m:e>
                        </m:acc>
                      </m:e>
                    </m:d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λ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𝐴𝑟𝑒𝑎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𝑃𝐵𝐶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𝐴𝑟𝑒𝑎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𝐴𝐵𝐶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‖"/>
                            <m:endChr m:val="‖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acc>
                              <m:accPr>
                                <m:chr m:val="⃗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</m:acc>
                          </m:e>
                        </m:d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</m:e>
                            </m:acc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acc>
                              <m:accPr>
                                <m:chr m:val="⃗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𝐴𝐶</m:t>
                                </m:r>
                              </m:e>
                            </m:acc>
                          </m:e>
                        </m:d>
                      </m:den>
                    </m:f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λ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𝐴𝑟𝑒𝑎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𝑃𝐴𝐶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𝐴𝑟𝑒𝑎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𝐴𝐵𝐶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‖"/>
                            <m:endChr m:val="‖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acc>
                              <m:accPr>
                                <m:chr m:val="⃗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𝑃𝐶</m:t>
                                </m:r>
                              </m:e>
                            </m:acc>
                          </m:e>
                        </m:d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</m:e>
                            </m:acc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acc>
                              <m:accPr>
                                <m:chr m:val="⃗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𝐴𝐶</m:t>
                                </m:r>
                              </m:e>
                            </m:acc>
                          </m:e>
                        </m:d>
                      </m:den>
                    </m:f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λ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𝐴𝑟𝑒𝑎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𝑃𝐴𝐵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𝐴𝑟𝑒𝑎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𝐴𝐵𝐶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‖"/>
                            <m:endChr m:val="‖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acc>
                              <m:accPr>
                                <m:chr m:val="⃗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</m:e>
                        </m:d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</m:e>
                            </m:acc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acc>
                              <m:accPr>
                                <m:chr m:val="⃗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𝐴𝐶</m:t>
                                </m:r>
                              </m:e>
                            </m:acc>
                          </m:e>
                        </m:d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7E7F76-C0A5-FC76-433D-FB9960ADA9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983162"/>
              </a:xfrm>
              <a:blipFill>
                <a:blip r:embed="rId2"/>
                <a:stretch>
                  <a:fillRect l="-1852" t="-1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6BECF98E-9739-32CB-EECB-165592BC621A}"/>
              </a:ext>
            </a:extLst>
          </p:cNvPr>
          <p:cNvGrpSpPr/>
          <p:nvPr/>
        </p:nvGrpSpPr>
        <p:grpSpPr>
          <a:xfrm>
            <a:off x="5715395" y="1737360"/>
            <a:ext cx="3372015" cy="3383280"/>
            <a:chOff x="5695785" y="1127760"/>
            <a:chExt cx="3372015" cy="3383280"/>
          </a:xfrm>
        </p:grpSpPr>
        <p:sp>
          <p:nvSpPr>
            <p:cNvPr id="4" name="Isosceles Triangle 3">
              <a:extLst>
                <a:ext uri="{FF2B5EF4-FFF2-40B4-BE49-F238E27FC236}">
                  <a16:creationId xmlns:a16="http://schemas.microsoft.com/office/drawing/2014/main" id="{3CAE3E75-520A-2BA3-685C-635B020DD89A}"/>
                </a:ext>
              </a:extLst>
            </p:cNvPr>
            <p:cNvSpPr/>
            <p:nvPr/>
          </p:nvSpPr>
          <p:spPr>
            <a:xfrm>
              <a:off x="5970105" y="1493520"/>
              <a:ext cx="2743200" cy="2743200"/>
            </a:xfrm>
            <a:prstGeom prst="triangl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997683D-929D-EF2E-AC93-253492A0EA0C}"/>
                </a:ext>
              </a:extLst>
            </p:cNvPr>
            <p:cNvSpPr txBox="1"/>
            <p:nvPr/>
          </p:nvSpPr>
          <p:spPr>
            <a:xfrm>
              <a:off x="7250265" y="1127760"/>
              <a:ext cx="9144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t>A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DCEF354-4378-B905-255F-5F762E9F9EF9}"/>
                </a:ext>
              </a:extLst>
            </p:cNvPr>
            <p:cNvSpPr txBox="1"/>
            <p:nvPr/>
          </p:nvSpPr>
          <p:spPr>
            <a:xfrm>
              <a:off x="5695785" y="4053840"/>
              <a:ext cx="9144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dirty="0"/>
                <a:t>B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6E69D59-612D-6768-E549-904DF7A0E74F}"/>
                </a:ext>
              </a:extLst>
            </p:cNvPr>
            <p:cNvSpPr/>
            <p:nvPr/>
          </p:nvSpPr>
          <p:spPr>
            <a:xfrm>
              <a:off x="7199555" y="3093402"/>
              <a:ext cx="182880" cy="18288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8DAE7E30-79B0-B19B-EB0F-6523106E0957}"/>
                </a:ext>
              </a:extLst>
            </p:cNvPr>
            <p:cNvSpPr txBox="1"/>
            <p:nvPr/>
          </p:nvSpPr>
          <p:spPr>
            <a:xfrm>
              <a:off x="7382435" y="2910522"/>
              <a:ext cx="9144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t>P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67A2E7D-ABA3-8CAA-5D6B-5AF4DCEC0C75}"/>
                </a:ext>
              </a:extLst>
            </p:cNvPr>
            <p:cNvSpPr txBox="1"/>
            <p:nvPr/>
          </p:nvSpPr>
          <p:spPr>
            <a:xfrm>
              <a:off x="8686800" y="4054158"/>
              <a:ext cx="381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C</a:t>
              </a:r>
              <a:endParaRPr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A2DE34-5898-AEEB-5D6A-AF300A20441C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7290995" y="1584960"/>
              <a:ext cx="31825" cy="150844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A88F5B5-33EA-C047-457C-F7053948BB72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 flipH="1">
              <a:off x="5943600" y="3249500"/>
              <a:ext cx="1282737" cy="98722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DC8D950-557D-86D3-A7EA-E03272980839}"/>
                </a:ext>
              </a:extLst>
            </p:cNvPr>
            <p:cNvCxnSpPr>
              <a:cxnSpLocks/>
              <a:stCxn id="4" idx="4"/>
              <a:endCxn id="7" idx="5"/>
            </p:cNvCxnSpPr>
            <p:nvPr/>
          </p:nvCxnSpPr>
          <p:spPr>
            <a:xfrm flipH="1" flipV="1">
              <a:off x="7355653" y="3249500"/>
              <a:ext cx="1357652" cy="98722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67178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Point-in-triangle test</a:t>
            </a:r>
          </a:p>
          <a:p>
            <a:pPr lvl="1"/>
            <a:r>
              <a:rPr dirty="0"/>
              <a:t>Color interpolation in graphics</a:t>
            </a:r>
          </a:p>
          <a:p>
            <a:pPr lvl="1"/>
            <a:r>
              <a:rPr dirty="0"/>
              <a:t>Texture mapping</a:t>
            </a:r>
          </a:p>
          <a:p>
            <a:pPr lvl="1"/>
            <a:r>
              <a:rPr dirty="0"/>
              <a:t>Finite element methods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</TotalTime>
  <Words>231</Words>
  <Application>Microsoft Office PowerPoint</Application>
  <PresentationFormat>On-screen Show (4:3)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 Math</vt:lpstr>
      <vt:lpstr>Office Theme</vt:lpstr>
      <vt:lpstr>Barycentric Coordinates</vt:lpstr>
      <vt:lpstr>Motivation</vt:lpstr>
      <vt:lpstr>Interesting Point</vt:lpstr>
      <vt:lpstr>Definition</vt:lpstr>
      <vt:lpstr>Area of Triangle?!</vt:lpstr>
      <vt:lpstr>Applications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Kelvin Sung</cp:lastModifiedBy>
  <cp:revision>37</cp:revision>
  <dcterms:created xsi:type="dcterms:W3CDTF">2013-01-27T09:14:16Z</dcterms:created>
  <dcterms:modified xsi:type="dcterms:W3CDTF">2026-02-10T15:02:38Z</dcterms:modified>
  <cp:category/>
</cp:coreProperties>
</file>