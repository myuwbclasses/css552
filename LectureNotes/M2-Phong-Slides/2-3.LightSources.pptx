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60" r:id="rId2"/>
    <p:sldId id="362" r:id="rId3"/>
    <p:sldId id="367" r:id="rId4"/>
    <p:sldId id="368" r:id="rId5"/>
    <p:sldId id="369" r:id="rId6"/>
    <p:sldId id="374" r:id="rId7"/>
    <p:sldId id="375" r:id="rId8"/>
    <p:sldId id="364" r:id="rId9"/>
    <p:sldId id="377" r:id="rId10"/>
    <p:sldId id="376" r:id="rId11"/>
    <p:sldId id="378" r:id="rId12"/>
    <p:sldId id="381" r:id="rId13"/>
    <p:sldId id="382" r:id="rId14"/>
    <p:sldId id="383" r:id="rId15"/>
    <p:sldId id="384" r:id="rId16"/>
    <p:sldId id="386" r:id="rId17"/>
    <p:sldId id="387" r:id="rId18"/>
    <p:sldId id="388" r:id="rId19"/>
    <p:sldId id="348" r:id="rId20"/>
    <p:sldId id="385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0000FF"/>
    <a:srgbClr val="FFFF00"/>
    <a:srgbClr val="FF00FF"/>
    <a:srgbClr val="00FF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02" autoAdjust="0"/>
  </p:normalViewPr>
  <p:slideViewPr>
    <p:cSldViewPr snapToGrid="0">
      <p:cViewPr varScale="1">
        <p:scale>
          <a:sx n="101" d="100"/>
          <a:sy n="101" d="100"/>
        </p:scale>
        <p:origin x="1914" y="10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450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398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234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613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661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077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142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672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700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613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810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992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MayaScenes/AmbientScene.ma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9.png"/><Relationship Id="rId7" Type="http://schemas.openxmlformats.org/officeDocument/2006/relationships/image" Target="../media/image11.jpeg"/><Relationship Id="rId2" Type="http://schemas.openxmlformats.org/officeDocument/2006/relationships/hyperlink" Target="MayaScenes/DirectionalLight.ma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2.png"/><Relationship Id="rId7" Type="http://schemas.openxmlformats.org/officeDocument/2006/relationships/image" Target="../media/image18.png"/><Relationship Id="rId2" Type="http://schemas.openxmlformats.org/officeDocument/2006/relationships/hyperlink" Target="MayaScenes/PointLight.mb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23.pn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eg"/><Relationship Id="rId5" Type="http://schemas.openxmlformats.org/officeDocument/2006/relationships/image" Target="../media/image25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MayaScenes/SpotLight.ma" TargetMode="External"/><Relationship Id="rId3" Type="http://schemas.openxmlformats.org/officeDocument/2006/relationships/image" Target="../media/image29.png"/><Relationship Id="rId7" Type="http://schemas.openxmlformats.org/officeDocument/2006/relationships/image" Target="../media/image3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jpeg"/><Relationship Id="rId5" Type="http://schemas.openxmlformats.org/officeDocument/2006/relationships/image" Target="../media/image31.png"/><Relationship Id="rId10" Type="http://schemas.openxmlformats.org/officeDocument/2006/relationships/image" Target="../media/image25.png"/><Relationship Id="rId4" Type="http://schemas.openxmlformats.org/officeDocument/2006/relationships/image" Target="../media/image30.png"/><Relationship Id="rId9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35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hyperlink" Target="MayaScenes/SpotLightWithDropOff.ma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1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jpeg"/><Relationship Id="rId4" Type="http://schemas.openxmlformats.org/officeDocument/2006/relationships/image" Target="../media/image55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0.png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Lights in the </a:t>
            </a:r>
            <a:r>
              <a:rPr lang="en-US" dirty="0" err="1"/>
              <a:t>Phong</a:t>
            </a:r>
            <a:r>
              <a:rPr lang="en-US" dirty="0"/>
              <a:t>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65060" y="3842724"/>
                <a:ext cx="8551449" cy="99293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𝐼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𝑎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𝑎</m:t>
                          </m:r>
                        </m:sub>
                      </m:sSub>
                      <m:r>
                        <a:rPr lang="en-US" i="1">
                          <a:latin typeface="Cambria Math"/>
                          <a:ea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𝑁</m:t>
                              </m:r>
                            </m:e>
                          </m:acc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∙</m:t>
                          </m:r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𝐿</m:t>
                              </m:r>
                            </m:e>
                          </m:acc>
                        </m:e>
                      </m:d>
                      <m:r>
                        <a:rPr lang="en-US">
                          <a:latin typeface="Cambria Math"/>
                          <a:ea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/>
                                      <a:ea typeface="Cambria Math"/>
                                    </a:rPr>
                                    <m:t>𝑉</m:t>
                                  </m:r>
                                </m:e>
                              </m:acc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∙</m:t>
                              </m:r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/>
                                      <a:ea typeface="Cambria Math"/>
                                    </a:rPr>
                                    <m:t>𝑅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5060" y="3842724"/>
                <a:ext cx="8551449" cy="992937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Rectangle 47"/>
          <p:cNvSpPr/>
          <p:nvPr/>
        </p:nvSpPr>
        <p:spPr>
          <a:xfrm>
            <a:off x="2359168" y="4905784"/>
            <a:ext cx="3096634" cy="12889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</a:rPr>
              <a:t>2. What are these?</a:t>
            </a:r>
          </a:p>
        </p:txBody>
      </p:sp>
      <p:cxnSp>
        <p:nvCxnSpPr>
          <p:cNvPr id="49" name="Straight Arrow Connector 48"/>
          <p:cNvCxnSpPr/>
          <p:nvPr/>
        </p:nvCxnSpPr>
        <p:spPr>
          <a:xfrm flipV="1">
            <a:off x="2636613" y="4487853"/>
            <a:ext cx="44879" cy="880741"/>
          </a:xfrm>
          <a:prstGeom prst="straightConnector1">
            <a:avLst/>
          </a:prstGeom>
          <a:ln w="22225">
            <a:solidFill>
              <a:srgbClr val="FF0000"/>
            </a:solidFill>
            <a:prstDash val="dash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H="1">
            <a:off x="5183470" y="3287352"/>
            <a:ext cx="2103681" cy="734886"/>
          </a:xfrm>
          <a:prstGeom prst="straightConnector1">
            <a:avLst/>
          </a:prstGeom>
          <a:ln w="22225">
            <a:solidFill>
              <a:srgbClr val="FF0000"/>
            </a:solidFill>
            <a:prstDash val="dash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/>
          <p:cNvGrpSpPr/>
          <p:nvPr/>
        </p:nvGrpSpPr>
        <p:grpSpPr>
          <a:xfrm>
            <a:off x="787440" y="1281093"/>
            <a:ext cx="4693841" cy="2228404"/>
            <a:chOff x="4202003" y="3858953"/>
            <a:chExt cx="4693841" cy="222840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/>
                <p:cNvSpPr/>
                <p:nvPr/>
              </p:nvSpPr>
              <p:spPr>
                <a:xfrm>
                  <a:off x="4202003" y="4705122"/>
                  <a:ext cx="1021655" cy="46353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𝑹</m:t>
                            </m:r>
                          </m:e>
                        </m:acc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Rectangle 2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2003" y="4705122"/>
                  <a:ext cx="1021655" cy="463533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/>
                <p:cNvSpPr/>
                <p:nvPr/>
              </p:nvSpPr>
              <p:spPr>
                <a:xfrm>
                  <a:off x="6140752" y="3940607"/>
                  <a:ext cx="1292123" cy="102239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𝑵</m:t>
                            </m:r>
                          </m:e>
                        </m:acc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Rectangle 2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0752" y="3940607"/>
                  <a:ext cx="1292123" cy="1022390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29"/>
                <p:cNvSpPr/>
                <p:nvPr/>
              </p:nvSpPr>
              <p:spPr>
                <a:xfrm>
                  <a:off x="8155348" y="4158993"/>
                  <a:ext cx="740496" cy="67407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𝑳</m:t>
                            </m:r>
                          </m:e>
                        </m:acc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Rectangle 2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55348" y="4158993"/>
                  <a:ext cx="740496" cy="674076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1" name="Group 30"/>
            <p:cNvGrpSpPr/>
            <p:nvPr/>
          </p:nvGrpSpPr>
          <p:grpSpPr>
            <a:xfrm>
              <a:off x="4291496" y="3858953"/>
              <a:ext cx="4496005" cy="2228404"/>
              <a:chOff x="895028" y="3980421"/>
              <a:chExt cx="4496005" cy="2228404"/>
            </a:xfrm>
          </p:grpSpPr>
          <p:sp>
            <p:nvSpPr>
              <p:cNvPr id="33" name="Trapezoid 32"/>
              <p:cNvSpPr/>
              <p:nvPr/>
            </p:nvSpPr>
            <p:spPr>
              <a:xfrm>
                <a:off x="1970794" y="5008325"/>
                <a:ext cx="3158334" cy="1200500"/>
              </a:xfrm>
              <a:prstGeom prst="trapezoid">
                <a:avLst>
                  <a:gd name="adj" fmla="val 56308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6" name="Straight Arrow Connector 35"/>
              <p:cNvCxnSpPr/>
              <p:nvPr/>
            </p:nvCxnSpPr>
            <p:spPr>
              <a:xfrm flipH="1">
                <a:off x="3618492" y="4730033"/>
                <a:ext cx="1772541" cy="937443"/>
              </a:xfrm>
              <a:prstGeom prst="straightConnector1">
                <a:avLst/>
              </a:prstGeom>
              <a:ln w="76200" cmpd="sng">
                <a:solidFill>
                  <a:schemeClr val="accent4">
                    <a:lumMod val="60000"/>
                    <a:lumOff val="40000"/>
                  </a:schemeClr>
                </a:solidFill>
                <a:prstDash val="solid"/>
                <a:headEnd type="triangle"/>
                <a:tailEnd type="none"/>
              </a:ln>
              <a:effectLst>
                <a:softEdge rad="12700"/>
              </a:effectLst>
              <a:scene3d>
                <a:camera prst="orthographicFront"/>
                <a:lightRig rig="threePt" dir="t">
                  <a:rot lat="0" lon="0" rev="600000"/>
                </a:lightRig>
              </a:scene3d>
              <a:sp3d prstMaterial="dkEdge">
                <a:bevelT w="158750" h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/>
              <p:cNvCxnSpPr/>
              <p:nvPr/>
            </p:nvCxnSpPr>
            <p:spPr>
              <a:xfrm flipV="1">
                <a:off x="3612882" y="4501453"/>
                <a:ext cx="0" cy="1166025"/>
              </a:xfrm>
              <a:prstGeom prst="straightConnector1">
                <a:avLst/>
              </a:prstGeom>
              <a:ln w="66675">
                <a:solidFill>
                  <a:schemeClr val="accent1">
                    <a:lumMod val="40000"/>
                    <a:lumOff val="60000"/>
                  </a:schemeClr>
                </a:solidFill>
                <a:tailEnd type="stealth"/>
              </a:ln>
              <a:scene3d>
                <a:camera prst="orthographicFront"/>
                <a:lightRig rig="threePt" dir="t"/>
              </a:scene3d>
              <a:sp3d>
                <a:bevelT w="215900" prst="coolSlant"/>
                <a:bevelB w="152400" h="50800" prst="softRound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/>
              <p:cNvCxnSpPr/>
              <p:nvPr/>
            </p:nvCxnSpPr>
            <p:spPr>
              <a:xfrm flipH="1" flipV="1">
                <a:off x="1402454" y="4939019"/>
                <a:ext cx="2216038" cy="728459"/>
              </a:xfrm>
              <a:prstGeom prst="straightConnector1">
                <a:avLst/>
              </a:prstGeom>
              <a:ln w="76200" cmpd="sng">
                <a:solidFill>
                  <a:schemeClr val="accent4">
                    <a:lumMod val="60000"/>
                    <a:lumOff val="40000"/>
                  </a:schemeClr>
                </a:solidFill>
                <a:prstDash val="solid"/>
                <a:tailEnd type="triangle"/>
              </a:ln>
              <a:effectLst>
                <a:softEdge rad="12700"/>
              </a:effectLst>
              <a:scene3d>
                <a:camera prst="orthographicFront"/>
                <a:lightRig rig="soft" dir="t">
                  <a:rot lat="0" lon="0" rev="3600000"/>
                </a:lightRig>
              </a:scene3d>
              <a:sp3d prstMaterial="plastic">
                <a:bevelT w="158750" h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Smiley Face 39"/>
              <p:cNvSpPr/>
              <p:nvPr/>
            </p:nvSpPr>
            <p:spPr>
              <a:xfrm rot="1357203">
                <a:off x="895028" y="3980421"/>
                <a:ext cx="572202" cy="579799"/>
              </a:xfrm>
              <a:prstGeom prst="smileyFace">
                <a:avLst>
                  <a:gd name="adj" fmla="val 4653"/>
                </a:avLst>
              </a:prstGeom>
              <a:scene3d>
                <a:camera prst="isometricOffAxis2Right"/>
                <a:lightRig rig="threePt" dir="t"/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1" name="Straight Arrow Connector 40"/>
              <p:cNvCxnSpPr/>
              <p:nvPr/>
            </p:nvCxnSpPr>
            <p:spPr>
              <a:xfrm flipH="1" flipV="1">
                <a:off x="1323917" y="4378037"/>
                <a:ext cx="2288966" cy="1289443"/>
              </a:xfrm>
              <a:prstGeom prst="straightConnector1">
                <a:avLst/>
              </a:prstGeom>
              <a:ln w="76200" cmpd="sng">
                <a:solidFill>
                  <a:schemeClr val="accent3">
                    <a:lumMod val="75000"/>
                  </a:schemeClr>
                </a:solidFill>
                <a:prstDash val="solid"/>
                <a:headEnd type="none"/>
                <a:tailEnd type="triangle"/>
              </a:ln>
              <a:effectLst>
                <a:softEdge rad="12700"/>
              </a:effectLst>
              <a:scene3d>
                <a:camera prst="orthographicFront"/>
                <a:lightRig rig="soft" dir="t"/>
              </a:scene3d>
              <a:sp3d prstMaterial="softEdge">
                <a:bevelT w="158750" h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Teardrop 41"/>
              <p:cNvSpPr/>
              <p:nvPr/>
            </p:nvSpPr>
            <p:spPr>
              <a:xfrm rot="11891525">
                <a:off x="2473154" y="4330376"/>
                <a:ext cx="1155710" cy="799315"/>
              </a:xfrm>
              <a:prstGeom prst="teardrop">
                <a:avLst>
                  <a:gd name="adj" fmla="val 169913"/>
                </a:avLst>
              </a:prstGeom>
              <a:solidFill>
                <a:schemeClr val="accent5">
                  <a:lumMod val="40000"/>
                  <a:lumOff val="60000"/>
                  <a:alpha val="69000"/>
                </a:schemeClr>
              </a:solidFill>
              <a:ln>
                <a:noFill/>
              </a:ln>
              <a:scene3d>
                <a:camera prst="perspectiveContrastingRightFacing" fov="7200000">
                  <a:rot lat="19200000" lon="8400000" rev="3000000"/>
                </a:camera>
                <a:lightRig rig="threePt" dir="t">
                  <a:rot lat="0" lon="0" rev="17400000"/>
                </a:lightRig>
              </a:scene3d>
              <a:sp3d prstMaterial="matte">
                <a:bevelT w="2540000" h="615950" prst="coolSlant"/>
                <a:bevelB w="1111250" h="450850" prst="coolSlant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2" name="Oval 31"/>
            <p:cNvSpPr>
              <a:spLocks noChangeAspect="1"/>
            </p:cNvSpPr>
            <p:nvPr/>
          </p:nvSpPr>
          <p:spPr>
            <a:xfrm>
              <a:off x="6260580" y="4560041"/>
              <a:ext cx="1508760" cy="1506239"/>
            </a:xfrm>
            <a:prstGeom prst="ellipse">
              <a:avLst/>
            </a:prstGeom>
            <a:solidFill>
              <a:schemeClr val="accent5">
                <a:lumMod val="40000"/>
                <a:lumOff val="60000"/>
                <a:alpha val="57000"/>
              </a:schemeClr>
            </a:solidFill>
            <a:ln w="3175" cap="sq">
              <a:noFill/>
            </a:ln>
            <a:effectLst>
              <a:innerShdw blurRad="63500" dist="50800" dir="8100000">
                <a:prstClr val="black">
                  <a:alpha val="50000"/>
                </a:prstClr>
              </a:innerShdw>
              <a:reflection endPos="0" dir="5400000" sy="-100000" algn="bl" rotWithShape="0"/>
            </a:effectLst>
            <a:scene3d>
              <a:camera prst="isometricOffAxis2Top"/>
              <a:lightRig rig="twoPt" dir="t"/>
            </a:scene3d>
            <a:sp3d z="374650" prstMaterial="flat">
              <a:bevelT w="800100" h="736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3" name="Rectangle 42"/>
          <p:cNvSpPr/>
          <p:nvPr/>
        </p:nvSpPr>
        <p:spPr>
          <a:xfrm>
            <a:off x="7281551" y="2698326"/>
            <a:ext cx="1570748" cy="10223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</a:rPr>
              <a:t>1. How to 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compute these?</a:t>
            </a:r>
          </a:p>
        </p:txBody>
      </p:sp>
      <p:cxnSp>
        <p:nvCxnSpPr>
          <p:cNvPr id="44" name="Straight Arrow Connector 43"/>
          <p:cNvCxnSpPr/>
          <p:nvPr/>
        </p:nvCxnSpPr>
        <p:spPr>
          <a:xfrm flipV="1">
            <a:off x="2659052" y="4442975"/>
            <a:ext cx="1359260" cy="925619"/>
          </a:xfrm>
          <a:prstGeom prst="straightConnector1">
            <a:avLst/>
          </a:prstGeom>
          <a:ln w="22225">
            <a:solidFill>
              <a:srgbClr val="FF0000"/>
            </a:solidFill>
            <a:prstDash val="dash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flipV="1">
            <a:off x="2681492" y="4442975"/>
            <a:ext cx="3825895" cy="925619"/>
          </a:xfrm>
          <a:prstGeom prst="straightConnector1">
            <a:avLst/>
          </a:prstGeom>
          <a:ln w="22225">
            <a:solidFill>
              <a:srgbClr val="FF0000"/>
            </a:solidFill>
            <a:prstDash val="dash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7287151" y="3287352"/>
            <a:ext cx="196343" cy="734886"/>
          </a:xfrm>
          <a:prstGeom prst="straightConnector1">
            <a:avLst/>
          </a:prstGeom>
          <a:ln w="22225">
            <a:solidFill>
              <a:srgbClr val="FF0000"/>
            </a:solidFill>
            <a:prstDash val="dash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H="1" flipV="1">
            <a:off x="4594439" y="2499426"/>
            <a:ext cx="2642224" cy="787926"/>
          </a:xfrm>
          <a:prstGeom prst="straightConnector1">
            <a:avLst/>
          </a:prstGeom>
          <a:ln w="22225">
            <a:solidFill>
              <a:srgbClr val="FF0000"/>
            </a:solidFill>
            <a:prstDash val="dash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2172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Light source direction: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𝐿</m:t>
                        </m:r>
                      </m:e>
                    </m:ac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b="-101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1588" y="1475421"/>
            <a:ext cx="8229600" cy="467322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Look around you … </a:t>
            </a:r>
          </a:p>
          <a:p>
            <a:r>
              <a:rPr lang="en-US" dirty="0"/>
              <a:t>The light in Seattle: Indirect</a:t>
            </a:r>
          </a:p>
          <a:p>
            <a:pPr lvl="1"/>
            <a:r>
              <a:rPr lang="en-US" dirty="0"/>
              <a:t>background, … ambient</a:t>
            </a:r>
          </a:p>
          <a:p>
            <a:r>
              <a:rPr lang="en-US" dirty="0"/>
              <a:t>Sun light: Direct, very far away</a:t>
            </a:r>
          </a:p>
          <a:p>
            <a:pPr lvl="1"/>
            <a:r>
              <a:rPr lang="en-US" dirty="0"/>
              <a:t>coming from a constant direction</a:t>
            </a:r>
            <a:br>
              <a:rPr lang="en-US" dirty="0"/>
            </a:br>
            <a:r>
              <a:rPr lang="en-US" dirty="0"/>
              <a:t>(independent of where you are)</a:t>
            </a:r>
          </a:p>
          <a:p>
            <a:r>
              <a:rPr lang="en-US" dirty="0"/>
              <a:t>Light bulb at home: Direct</a:t>
            </a:r>
          </a:p>
          <a:p>
            <a:pPr lvl="1"/>
            <a:r>
              <a:rPr lang="en-US" dirty="0"/>
              <a:t>closer, shines from a fixed point</a:t>
            </a:r>
          </a:p>
          <a:p>
            <a:r>
              <a:rPr lang="en-US" dirty="0"/>
              <a:t>Light from the projector/desk lamp</a:t>
            </a:r>
          </a:p>
          <a:p>
            <a:pPr lvl="1"/>
            <a:r>
              <a:rPr lang="en-US" dirty="0"/>
              <a:t>How would you describe this?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5165502" y="1166881"/>
            <a:ext cx="2021687" cy="1750224"/>
            <a:chOff x="6653576" y="1621277"/>
            <a:chExt cx="2021687" cy="1750224"/>
          </a:xfrm>
        </p:grpSpPr>
        <p:pic>
          <p:nvPicPr>
            <p:cNvPr id="2050" name="Picture 2" descr="C:\Users\ksung\Desktop\ScreenHunter_04 Sep. 01 17.13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53576" y="1621277"/>
              <a:ext cx="2021687" cy="17502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Content Placeholder 2"/>
            <p:cNvSpPr txBox="1">
              <a:spLocks/>
            </p:cNvSpPr>
            <p:nvPr/>
          </p:nvSpPr>
          <p:spPr>
            <a:xfrm>
              <a:off x="7445240" y="1637794"/>
              <a:ext cx="1213198" cy="466439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lIns="91440" tIns="45720" rIns="91440" bIns="45720" rtlCol="0">
              <a:normAutofit fontScale="25000" lnSpcReduction="200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dirty="0"/>
                <a:t>credit: </a:t>
              </a:r>
              <a:br>
                <a:rPr lang="en-US" dirty="0"/>
              </a:br>
              <a:r>
                <a:rPr lang="en-US" dirty="0"/>
                <a:t>http://mynasadata.larc.nasa.gov/Radiation_Explanation.html</a:t>
              </a:r>
            </a:p>
          </p:txBody>
        </p:sp>
      </p:grpSp>
      <p:pic>
        <p:nvPicPr>
          <p:cNvPr id="2051" name="Picture 3" descr="C:\Users\ksung\Desktop\ScreenHunter_05 Sep. 01 17.30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3316" y="2917105"/>
            <a:ext cx="3410622" cy="2085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7930802" y="2919039"/>
            <a:ext cx="1213198" cy="46643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2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credit: http://www.truebeyonddesign.com/products-page/ </a:t>
            </a:r>
            <a:br>
              <a:rPr lang="en-US" dirty="0"/>
            </a:br>
            <a:endParaRPr lang="en-US" dirty="0"/>
          </a:p>
        </p:txBody>
      </p:sp>
      <p:pic>
        <p:nvPicPr>
          <p:cNvPr id="10" name="Picture 9" descr="C:\Users\ksung\Desktop\ScreenHunter_10 Sep. 01 18.05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3180" y="5071273"/>
            <a:ext cx="2351000" cy="1752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ontent Placeholder 2"/>
          <p:cNvSpPr>
            <a:spLocks noGrp="1"/>
          </p:cNvSpPr>
          <p:nvPr/>
        </p:nvSpPr>
        <p:spPr>
          <a:xfrm>
            <a:off x="6435862" y="5071274"/>
            <a:ext cx="2645028" cy="28634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http://www.apartmenttherapy.com/ny/lighting/best-product-tolomeo-desk-lamp-001066</a:t>
            </a:r>
          </a:p>
        </p:txBody>
      </p:sp>
    </p:spTree>
    <p:extLst>
      <p:ext uri="{BB962C8B-B14F-4D97-AF65-F5344CB8AC3E}">
        <p14:creationId xmlns:p14="http://schemas.microsoft.com/office/powerpoint/2010/main" val="2365070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Ambient Light?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in the real world!</a:t>
            </a:r>
          </a:p>
          <a:p>
            <a:r>
              <a:rPr lang="en-US" dirty="0"/>
              <a:t>Implementation dependent!</a:t>
            </a:r>
          </a:p>
          <a:p>
            <a:pPr lvl="1"/>
            <a:r>
              <a:rPr lang="en-US" dirty="0"/>
              <a:t>constant color added to illumination results</a:t>
            </a:r>
          </a:p>
          <a:p>
            <a:pPr lvl="1"/>
            <a:r>
              <a:rPr lang="en-US" dirty="0"/>
              <a:t>Maya </a:t>
            </a:r>
            <a:r>
              <a:rPr lang="en-US" dirty="0">
                <a:hlinkClick r:id="rId2" action="ppaction://hlinkfile"/>
              </a:rPr>
              <a:t>scene file</a:t>
            </a:r>
            <a:endParaRPr lang="en-US" dirty="0"/>
          </a:p>
          <a:p>
            <a:pPr lvl="1"/>
            <a:endParaRPr lang="en-US" dirty="0"/>
          </a:p>
        </p:txBody>
      </p:sp>
      <p:grpSp>
        <p:nvGrpSpPr>
          <p:cNvPr id="14" name="Group 13"/>
          <p:cNvGrpSpPr/>
          <p:nvPr/>
        </p:nvGrpSpPr>
        <p:grpSpPr>
          <a:xfrm>
            <a:off x="424496" y="3634043"/>
            <a:ext cx="8180967" cy="3266564"/>
            <a:chOff x="273026" y="3244227"/>
            <a:chExt cx="8180967" cy="3266564"/>
          </a:xfrm>
        </p:grpSpPr>
        <p:pic>
          <p:nvPicPr>
            <p:cNvPr id="7170" name="Picture 2" descr="C:\Users\ksung\Desktop\ScreenHunter_14 Sep. 01 20.10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47534" y="3486345"/>
              <a:ext cx="2716007" cy="20639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173" name="Picture 5" descr="C:\Users\ksung\Desktop\ScreenHunter_17 Sep. 01 20.11.jp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71052" y="5073932"/>
              <a:ext cx="1940753" cy="12176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174" name="Picture 6" descr="C:\Users\ksung\Desktop\ScreenHunter_15 Sep. 01 20.10.jp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4112" y="3322764"/>
              <a:ext cx="1657350" cy="1600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175" name="Picture 7" descr="C:\Users\ksung\Desktop\ScreenHunter_18 Sep. 01 20.12.jp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3026" y="3945697"/>
              <a:ext cx="2336036" cy="1321628"/>
            </a:xfrm>
            <a:prstGeom prst="rect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Rectangle 9"/>
            <p:cNvSpPr/>
            <p:nvPr/>
          </p:nvSpPr>
          <p:spPr>
            <a:xfrm>
              <a:off x="2484293" y="5147524"/>
              <a:ext cx="1326481" cy="9452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Ambient light</a:t>
              </a:r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 flipV="1">
              <a:off x="3018080" y="4336388"/>
              <a:ext cx="431957" cy="1173153"/>
            </a:xfrm>
            <a:prstGeom prst="straightConnector1">
              <a:avLst/>
            </a:prstGeom>
            <a:ln w="22225">
              <a:solidFill>
                <a:srgbClr val="FF0000"/>
              </a:solidFill>
              <a:prstDash val="dashDot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 flipH="1" flipV="1">
              <a:off x="1940996" y="5147524"/>
              <a:ext cx="1077084" cy="362017"/>
            </a:xfrm>
            <a:prstGeom prst="straightConnector1">
              <a:avLst/>
            </a:prstGeom>
            <a:ln w="22225">
              <a:solidFill>
                <a:srgbClr val="FF0000"/>
              </a:solidFill>
              <a:prstDash val="dashDot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/>
            <p:cNvSpPr/>
            <p:nvPr/>
          </p:nvSpPr>
          <p:spPr>
            <a:xfrm>
              <a:off x="4452911" y="5565537"/>
              <a:ext cx="1326481" cy="9452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Material Property</a:t>
              </a:r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 flipH="1" flipV="1">
              <a:off x="4629034" y="4702983"/>
              <a:ext cx="139310" cy="979761"/>
            </a:xfrm>
            <a:prstGeom prst="straightConnector1">
              <a:avLst/>
            </a:prstGeom>
            <a:ln w="22225">
              <a:solidFill>
                <a:srgbClr val="FF0000"/>
              </a:solidFill>
              <a:prstDash val="dashDot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4768344" y="5682744"/>
              <a:ext cx="1502708" cy="1"/>
            </a:xfrm>
            <a:prstGeom prst="straightConnector1">
              <a:avLst/>
            </a:prstGeom>
            <a:ln w="22225">
              <a:solidFill>
                <a:srgbClr val="FF0000"/>
              </a:solidFill>
              <a:prstDash val="dashDot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/>
            <p:cNvSpPr/>
            <p:nvPr/>
          </p:nvSpPr>
          <p:spPr>
            <a:xfrm>
              <a:off x="7314853" y="3244227"/>
              <a:ext cx="1139140" cy="8001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bg1"/>
                  </a:solidFill>
                </a:rPr>
                <a:t>Rendered image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43163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the Sun?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would you describe the incoming light source for this scene?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2053192" y="2698531"/>
            <a:ext cx="5320910" cy="3445981"/>
            <a:chOff x="2266365" y="3040730"/>
            <a:chExt cx="5320910" cy="3445981"/>
          </a:xfrm>
        </p:grpSpPr>
        <p:pic>
          <p:nvPicPr>
            <p:cNvPr id="8194" name="Picture 2" descr="C:\Users\ksung\Desktop\ScreenHunter_19 Sep. 01 20.25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66365" y="3040730"/>
              <a:ext cx="5200299" cy="34459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Content Placeholder 2"/>
            <p:cNvSpPr txBox="1">
              <a:spLocks/>
            </p:cNvSpPr>
            <p:nvPr/>
          </p:nvSpPr>
          <p:spPr>
            <a:xfrm>
              <a:off x="2266365" y="3042133"/>
              <a:ext cx="5320910" cy="37445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32500" lnSpcReduction="200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itchFamily="34" charset="0"/>
                <a:buNone/>
              </a:pPr>
              <a:r>
                <a:rPr lang="en-US" dirty="0"/>
                <a:t>http://www.planetware.com/picture/kansas-cottonwood-falls-tallgrass-prairie-national-preserve-flint-hills-national-prairie-us-ks108.htm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0452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Directional Light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502078" y="1306269"/>
                <a:ext cx="8229600" cy="4525963"/>
              </a:xfrm>
            </p:spPr>
            <p:txBody>
              <a:bodyPr/>
              <a:lstStyle/>
              <a:p>
                <a:r>
                  <a:rPr lang="en-US" dirty="0"/>
                  <a:t>Direction is: </a:t>
                </a:r>
                <a14:m>
                  <m:oMath xmlns:m="http://schemas.openxmlformats.org/officeDocument/2006/math">
                    <m:r>
                      <a:rPr lang="en-US" b="0">
                        <a:latin typeface="Cambria Math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>
                            <a:latin typeface="Cambria Math"/>
                          </a:rPr>
                          <m:t>𝐿</m:t>
                        </m:r>
                      </m:e>
                    </m:acc>
                  </m:oMath>
                </a14:m>
                <a:endParaRPr lang="en-US" dirty="0"/>
              </a:p>
              <a:p>
                <a:r>
                  <a:rPr lang="en-US" dirty="0"/>
                  <a:t>No position!! (where is the Sun?)</a:t>
                </a:r>
              </a:p>
              <a:p>
                <a:r>
                  <a:rPr lang="en-US" dirty="0"/>
                  <a:t>Light has no geometry and does </a:t>
                </a:r>
                <a:r>
                  <a:rPr lang="en-US" b="1" i="1" dirty="0"/>
                  <a:t>not </a:t>
                </a:r>
                <a:r>
                  <a:rPr lang="en-US" dirty="0"/>
                  <a:t>show up in final rendered image</a:t>
                </a:r>
              </a:p>
              <a:p>
                <a:r>
                  <a:rPr lang="en-US" dirty="0"/>
                  <a:t>Planes looks … flat </a:t>
                </a:r>
                <a:r>
                  <a:rPr lang="en-US" dirty="0">
                    <a:sym typeface="Wingdings" pitchFamily="2" charset="2"/>
                  </a:rPr>
                  <a:t></a:t>
                </a:r>
              </a:p>
              <a:p>
                <a:r>
                  <a:rPr lang="en-US" dirty="0">
                    <a:sym typeface="Wingdings" pitchFamily="2" charset="2"/>
                    <a:hlinkClick r:id="rId2" action="ppaction://hlinkfile"/>
                  </a:rPr>
                  <a:t>Maya Scene</a:t>
                </a:r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2078" y="1306269"/>
                <a:ext cx="8229600" cy="4525963"/>
              </a:xfrm>
              <a:blipFill rotWithShape="1">
                <a:blip r:embed="rId3"/>
                <a:stretch>
                  <a:fillRect l="-1630" t="-1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6905227" y="947416"/>
                <a:ext cx="777895" cy="74120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1" i="0" smtClean="0">
                          <a:solidFill>
                            <a:schemeClr val="tx1"/>
                          </a:solidFill>
                          <a:latin typeface="Cambria Math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𝑳</m:t>
                          </m:r>
                        </m:e>
                      </m:acc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5227" y="947416"/>
                <a:ext cx="777895" cy="741206"/>
              </a:xfrm>
              <a:prstGeom prst="rect">
                <a:avLst/>
              </a:prstGeom>
              <a:blipFill rotWithShape="1">
                <a:blip r:embed="rId4"/>
                <a:stretch>
                  <a:fillRect r="-283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219" name="Picture 3" descr="C:\Users\ksung\Desktop\ScreenHunter_22 Sep. 01 20.36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5181" y="4695420"/>
            <a:ext cx="2674377" cy="1883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" name="Group 20"/>
          <p:cNvGrpSpPr/>
          <p:nvPr/>
        </p:nvGrpSpPr>
        <p:grpSpPr>
          <a:xfrm>
            <a:off x="4883724" y="3440158"/>
            <a:ext cx="3569080" cy="2840990"/>
            <a:chOff x="5426975" y="3008202"/>
            <a:chExt cx="3569080" cy="2840990"/>
          </a:xfrm>
        </p:grpSpPr>
        <p:pic>
          <p:nvPicPr>
            <p:cNvPr id="9218" name="Picture 2" descr="C:\Users\ksung\Desktop\ScreenHunter_21 Sep. 01 20.36.jp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70138" y="3298366"/>
              <a:ext cx="2356681" cy="23231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220" name="Picture 4" descr="C:\Users\ksung\Desktop\ScreenHunter_23 Sep. 01 20.36.jp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39005" y="3008202"/>
              <a:ext cx="1857050" cy="5803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221" name="Picture 5" descr="C:\Users\ksung\Desktop\ScreenHunter_24 Sep. 01 20.37.jp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26975" y="4816577"/>
              <a:ext cx="1686327" cy="10326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6" name="Rectangle 15"/>
          <p:cNvSpPr/>
          <p:nvPr/>
        </p:nvSpPr>
        <p:spPr>
          <a:xfrm>
            <a:off x="7748314" y="5611152"/>
            <a:ext cx="1247741" cy="9452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</a:rPr>
              <a:t>Directional 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Light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H="1" flipV="1">
            <a:off x="7583123" y="5026395"/>
            <a:ext cx="685937" cy="822799"/>
          </a:xfrm>
          <a:prstGeom prst="straightConnector1">
            <a:avLst/>
          </a:prstGeom>
          <a:ln w="22225">
            <a:solidFill>
              <a:srgbClr val="FF0000"/>
            </a:solidFill>
            <a:prstDash val="dash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 flipV="1">
            <a:off x="7803254" y="4089556"/>
            <a:ext cx="465805" cy="1716604"/>
          </a:xfrm>
          <a:prstGeom prst="straightConnector1">
            <a:avLst/>
          </a:prstGeom>
          <a:ln w="22225">
            <a:solidFill>
              <a:srgbClr val="FF0000"/>
            </a:solidFill>
            <a:prstDash val="dash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319586" y="4660008"/>
            <a:ext cx="1139140" cy="800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Rendered image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6465624" y="1279517"/>
            <a:ext cx="2161195" cy="1173569"/>
            <a:chOff x="6465624" y="1389064"/>
            <a:chExt cx="2161195" cy="1173569"/>
          </a:xfrm>
        </p:grpSpPr>
        <p:sp>
          <p:nvSpPr>
            <p:cNvPr id="6" name="Trapezoid 5"/>
            <p:cNvSpPr/>
            <p:nvPr/>
          </p:nvSpPr>
          <p:spPr>
            <a:xfrm>
              <a:off x="6465624" y="1962383"/>
              <a:ext cx="2087116" cy="600250"/>
            </a:xfrm>
            <a:prstGeom prst="trapezoid">
              <a:avLst>
                <a:gd name="adj" fmla="val 5630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/>
            <p:cNvCxnSpPr/>
            <p:nvPr/>
          </p:nvCxnSpPr>
          <p:spPr>
            <a:xfrm flipV="1">
              <a:off x="6891456" y="1798169"/>
              <a:ext cx="715520" cy="647017"/>
            </a:xfrm>
            <a:prstGeom prst="straightConnector1">
              <a:avLst/>
            </a:prstGeom>
            <a:ln w="76200" cmpd="sng">
              <a:solidFill>
                <a:schemeClr val="accent4">
                  <a:lumMod val="60000"/>
                  <a:lumOff val="40000"/>
                </a:schemeClr>
              </a:solidFill>
              <a:prstDash val="solid"/>
              <a:headEnd type="triangle"/>
              <a:tailEnd type="none"/>
            </a:ln>
            <a:effectLst>
              <a:softEdge rad="12700"/>
            </a:effectLst>
            <a:scene3d>
              <a:camera prst="orthographicFront"/>
              <a:lightRig rig="threePt" dir="t">
                <a:rot lat="0" lon="0" rev="600000"/>
              </a:lightRig>
            </a:scene3d>
            <a:sp3d prstMaterial="dkEdge">
              <a:bevelT w="158750" h="254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 flipV="1">
              <a:off x="7911299" y="1806069"/>
              <a:ext cx="715520" cy="647017"/>
            </a:xfrm>
            <a:prstGeom prst="straightConnector1">
              <a:avLst/>
            </a:prstGeom>
            <a:ln w="76200" cmpd="sng">
              <a:solidFill>
                <a:schemeClr val="accent4">
                  <a:lumMod val="60000"/>
                  <a:lumOff val="40000"/>
                </a:schemeClr>
              </a:solidFill>
              <a:prstDash val="solid"/>
              <a:headEnd type="triangle"/>
              <a:tailEnd type="none"/>
            </a:ln>
            <a:effectLst>
              <a:softEdge rad="12700"/>
            </a:effectLst>
            <a:scene3d>
              <a:camera prst="orthographicFront"/>
              <a:lightRig rig="threePt" dir="t">
                <a:rot lat="0" lon="0" rev="600000"/>
              </a:lightRig>
            </a:scene3d>
            <a:sp3d prstMaterial="dkEdge">
              <a:bevelT w="158750" h="254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flipV="1">
              <a:off x="7741736" y="1389064"/>
              <a:ext cx="715520" cy="647017"/>
            </a:xfrm>
            <a:prstGeom prst="straightConnector1">
              <a:avLst/>
            </a:prstGeom>
            <a:ln w="76200" cmpd="sng">
              <a:solidFill>
                <a:schemeClr val="accent4">
                  <a:lumMod val="60000"/>
                  <a:lumOff val="40000"/>
                </a:schemeClr>
              </a:solidFill>
              <a:prstDash val="solid"/>
              <a:headEnd type="triangle"/>
              <a:tailEnd type="none"/>
            </a:ln>
            <a:effectLst>
              <a:softEdge rad="12700"/>
            </a:effectLst>
            <a:scene3d>
              <a:camera prst="orthographicFront"/>
              <a:lightRig rig="threePt" dir="t">
                <a:rot lat="0" lon="0" rev="600000"/>
              </a:lightRig>
            </a:scene3d>
            <a:sp3d prstMaterial="dkEdge">
              <a:bevelT w="158750" h="254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 flipV="1">
              <a:off x="7256550" y="1558002"/>
              <a:ext cx="715520" cy="647017"/>
            </a:xfrm>
            <a:prstGeom prst="straightConnector1">
              <a:avLst/>
            </a:prstGeom>
            <a:ln w="76200" cmpd="sng">
              <a:solidFill>
                <a:schemeClr val="accent4">
                  <a:lumMod val="60000"/>
                  <a:lumOff val="40000"/>
                </a:schemeClr>
              </a:solidFill>
              <a:prstDash val="solid"/>
              <a:headEnd type="triangle"/>
              <a:tailEnd type="none"/>
            </a:ln>
            <a:effectLst>
              <a:softEdge rad="12700"/>
            </a:effectLst>
            <a:scene3d>
              <a:camera prst="orthographicFront"/>
              <a:lightRig rig="threePt" dir="t">
                <a:rot lat="0" lon="0" rev="600000"/>
              </a:lightRig>
            </a:scene3d>
            <a:sp3d prstMaterial="dkEdge">
              <a:bevelT w="158750" h="254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 flipV="1">
              <a:off x="7614310" y="1615491"/>
              <a:ext cx="715520" cy="647017"/>
            </a:xfrm>
            <a:prstGeom prst="straightConnector1">
              <a:avLst/>
            </a:prstGeom>
            <a:ln w="76200" cmpd="sng">
              <a:solidFill>
                <a:schemeClr val="accent4">
                  <a:lumMod val="60000"/>
                  <a:lumOff val="40000"/>
                </a:schemeClr>
              </a:solidFill>
              <a:prstDash val="solid"/>
              <a:headEnd type="triangle"/>
              <a:tailEnd type="none"/>
            </a:ln>
            <a:effectLst>
              <a:softEdge rad="12700"/>
            </a:effectLst>
            <a:scene3d>
              <a:camera prst="orthographicFront"/>
              <a:lightRig rig="threePt" dir="t">
                <a:rot lat="0" lon="0" rev="600000"/>
              </a:lightRig>
            </a:scene3d>
            <a:sp3d prstMaterial="dkEdge">
              <a:bevelT w="158750" h="254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 flipV="1">
              <a:off x="6905227" y="1598370"/>
              <a:ext cx="715520" cy="647017"/>
            </a:xfrm>
            <a:prstGeom prst="straightConnector1">
              <a:avLst/>
            </a:prstGeom>
            <a:ln w="76200" cmpd="sng">
              <a:solidFill>
                <a:schemeClr val="accent4">
                  <a:lumMod val="60000"/>
                  <a:lumOff val="40000"/>
                </a:schemeClr>
              </a:solidFill>
              <a:prstDash val="solid"/>
              <a:headEnd type="triangle"/>
              <a:tailEnd type="none"/>
            </a:ln>
            <a:effectLst>
              <a:softEdge rad="12700"/>
            </a:effectLst>
            <a:scene3d>
              <a:camera prst="orthographicFront"/>
              <a:lightRig rig="threePt" dir="t">
                <a:rot lat="0" lon="0" rev="600000"/>
              </a:lightRig>
            </a:scene3d>
            <a:sp3d prstMaterial="dkEdge">
              <a:bevelT w="158750" h="254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 flipV="1">
              <a:off x="7568331" y="1798170"/>
              <a:ext cx="715520" cy="647017"/>
            </a:xfrm>
            <a:prstGeom prst="straightConnector1">
              <a:avLst/>
            </a:prstGeom>
            <a:ln w="76200" cmpd="sng">
              <a:solidFill>
                <a:schemeClr val="accent4">
                  <a:lumMod val="60000"/>
                  <a:lumOff val="40000"/>
                </a:schemeClr>
              </a:solidFill>
              <a:prstDash val="solid"/>
              <a:headEnd type="triangle"/>
              <a:tailEnd type="none"/>
            </a:ln>
            <a:effectLst>
              <a:softEdge rad="12700"/>
            </a:effectLst>
            <a:scene3d>
              <a:camera prst="orthographicFront"/>
              <a:lightRig rig="threePt" dir="t">
                <a:rot lat="0" lon="0" rev="600000"/>
              </a:lightRig>
            </a:scene3d>
            <a:sp3d prstMaterial="dkEdge">
              <a:bevelT w="158750" h="254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 flipV="1">
              <a:off x="7256550" y="1716184"/>
              <a:ext cx="715520" cy="647017"/>
            </a:xfrm>
            <a:prstGeom prst="straightConnector1">
              <a:avLst/>
            </a:prstGeom>
            <a:ln w="76200" cmpd="sng">
              <a:solidFill>
                <a:schemeClr val="accent4">
                  <a:lumMod val="60000"/>
                  <a:lumOff val="40000"/>
                </a:schemeClr>
              </a:solidFill>
              <a:prstDash val="solid"/>
              <a:headEnd type="triangle"/>
              <a:tailEnd type="none"/>
            </a:ln>
            <a:effectLst>
              <a:softEdge rad="12700"/>
            </a:effectLst>
            <a:scene3d>
              <a:camera prst="orthographicFront"/>
              <a:lightRig rig="threePt" dir="t">
                <a:rot lat="0" lon="0" rev="600000"/>
              </a:lightRig>
            </a:scene3d>
            <a:sp3d prstMaterial="dkEdge">
              <a:bevelT w="158750" h="254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 flipV="1">
              <a:off x="7894136" y="1541464"/>
              <a:ext cx="715520" cy="647017"/>
            </a:xfrm>
            <a:prstGeom prst="straightConnector1">
              <a:avLst/>
            </a:prstGeom>
            <a:ln w="76200" cmpd="sng">
              <a:solidFill>
                <a:schemeClr val="accent4">
                  <a:lumMod val="60000"/>
                  <a:lumOff val="40000"/>
                </a:schemeClr>
              </a:solidFill>
              <a:prstDash val="solid"/>
              <a:headEnd type="triangle"/>
              <a:tailEnd type="none"/>
            </a:ln>
            <a:effectLst>
              <a:softEdge rad="12700"/>
            </a:effectLst>
            <a:scene3d>
              <a:camera prst="orthographicFront"/>
              <a:lightRig rig="threePt" dir="t">
                <a:rot lat="0" lon="0" rev="600000"/>
              </a:lightRig>
            </a:scene3d>
            <a:sp3d prstMaterial="dkEdge">
              <a:bevelT w="158750" h="254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 flipV="1">
              <a:off x="6700181" y="1615490"/>
              <a:ext cx="715520" cy="647017"/>
            </a:xfrm>
            <a:prstGeom prst="straightConnector1">
              <a:avLst/>
            </a:prstGeom>
            <a:ln w="76200" cmpd="sng">
              <a:solidFill>
                <a:schemeClr val="accent4">
                  <a:lumMod val="60000"/>
                  <a:lumOff val="40000"/>
                </a:schemeClr>
              </a:solidFill>
              <a:prstDash val="solid"/>
              <a:headEnd type="triangle"/>
              <a:tailEnd type="none"/>
            </a:ln>
            <a:effectLst>
              <a:softEdge rad="12700"/>
            </a:effectLst>
            <a:scene3d>
              <a:camera prst="orthographicFront"/>
              <a:lightRig rig="threePt" dir="t">
                <a:rot lat="0" lon="0" rev="600000"/>
              </a:lightRig>
            </a:scene3d>
            <a:sp3d prstMaterial="dkEdge">
              <a:bevelT w="158750" h="254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93134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the Light Bulb?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would you describe the light source of these scenes?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6483" y="3395056"/>
            <a:ext cx="2777484" cy="2075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1646483" y="5174769"/>
            <a:ext cx="2914299" cy="452993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http://home.cogeco.ca/~richardastro2/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0543" y="3905549"/>
            <a:ext cx="2807713" cy="24003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Content Placeholder 2"/>
          <p:cNvSpPr txBox="1">
            <a:spLocks/>
          </p:cNvSpPr>
          <p:nvPr/>
        </p:nvSpPr>
        <p:spPr>
          <a:xfrm>
            <a:off x="5155422" y="3905549"/>
            <a:ext cx="2762834" cy="364638"/>
          </a:xfrm>
          <a:prstGeom prst="rect">
            <a:avLst/>
          </a:prstGeom>
        </p:spPr>
        <p:txBody>
          <a:bodyPr vert="horz" lIns="91440" tIns="45720" rIns="91440" bIns="45720" rtlCol="0">
            <a:normAutofit fontScale="3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http://companyofburninghearts.wordpress.com/2010/03/18/mystic-clusters/</a:t>
            </a:r>
          </a:p>
        </p:txBody>
      </p:sp>
    </p:spTree>
    <p:extLst>
      <p:ext uri="{BB962C8B-B14F-4D97-AF65-F5344CB8AC3E}">
        <p14:creationId xmlns:p14="http://schemas.microsoft.com/office/powerpoint/2010/main" val="3053987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 Light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223056"/>
                <a:ext cx="5545441" cy="4903108"/>
              </a:xfrm>
            </p:spPr>
            <p:txBody>
              <a:bodyPr/>
              <a:lstStyle/>
              <a:p>
                <a:r>
                  <a:rPr lang="en-US" dirty="0"/>
                  <a:t>Position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r>
                  <a:rPr lang="en-US" dirty="0"/>
                  <a:t>For every visible position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𝐿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b="0" i="1" smtClean="0">
                        <a:latin typeface="Cambria Math"/>
                        <a:ea typeface="Cambria Math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/>
                            <a:ea typeface="Cambria Math"/>
                          </a:rPr>
                          <m:t>𝐿</m:t>
                        </m:r>
                      </m:sub>
                    </m:sSub>
                    <m:r>
                      <a:rPr lang="en-US" b="0" i="1" smtClean="0">
                        <a:latin typeface="Cambria Math"/>
                        <a:ea typeface="Cambria Math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 is unique!</a:t>
                </a:r>
              </a:p>
              <a:p>
                <a:r>
                  <a:rPr lang="en-US" dirty="0"/>
                  <a:t>Illumination is a function of </a:t>
                </a:r>
                <a:br>
                  <a:rPr lang="en-US" dirty="0"/>
                </a:br>
                <a:r>
                  <a:rPr lang="en-US" dirty="0"/>
                  <a:t>relative position to lights!</a:t>
                </a:r>
                <a:endParaRPr lang="en-US" dirty="0">
                  <a:hlinkClick r:id="rId2" action="ppaction://hlinkfile"/>
                </a:endParaRPr>
              </a:p>
              <a:p>
                <a:r>
                  <a:rPr lang="en-US" dirty="0">
                    <a:hlinkClick r:id="rId2" action="ppaction://hlinkfile"/>
                  </a:rPr>
                  <a:t>Maya Scene</a:t>
                </a:r>
                <a:endParaRPr lang="en-US" dirty="0"/>
              </a:p>
            </p:txBody>
          </p:sp>
        </mc:Choice>
        <mc:Fallback xmlns="">
          <p:sp>
            <p:nvSpPr>
              <p:cNvPr id="4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223056"/>
                <a:ext cx="5545441" cy="4903108"/>
              </a:xfrm>
              <a:blipFill rotWithShape="1">
                <a:blip r:embed="rId3"/>
                <a:stretch>
                  <a:fillRect l="-2418" t="-1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/>
          <p:cNvGrpSpPr/>
          <p:nvPr/>
        </p:nvGrpSpPr>
        <p:grpSpPr>
          <a:xfrm>
            <a:off x="5906878" y="436136"/>
            <a:ext cx="3108244" cy="2945786"/>
            <a:chOff x="5316049" y="3308388"/>
            <a:chExt cx="3108244" cy="2945786"/>
          </a:xfrm>
        </p:grpSpPr>
        <p:sp>
          <p:nvSpPr>
            <p:cNvPr id="5" name="Trapezoid 4"/>
            <p:cNvSpPr/>
            <p:nvPr/>
          </p:nvSpPr>
          <p:spPr>
            <a:xfrm>
              <a:off x="6002641" y="5653924"/>
              <a:ext cx="2087116" cy="600250"/>
            </a:xfrm>
            <a:prstGeom prst="trapezoid">
              <a:avLst>
                <a:gd name="adj" fmla="val 5630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Arrow Connector 5"/>
            <p:cNvCxnSpPr/>
            <p:nvPr/>
          </p:nvCxnSpPr>
          <p:spPr>
            <a:xfrm flipH="1">
              <a:off x="6631707" y="4274679"/>
              <a:ext cx="1458050" cy="1689905"/>
            </a:xfrm>
            <a:prstGeom prst="straightConnector1">
              <a:avLst/>
            </a:prstGeom>
            <a:ln w="76200" cmpd="sng">
              <a:solidFill>
                <a:schemeClr val="accent4">
                  <a:lumMod val="60000"/>
                  <a:lumOff val="40000"/>
                </a:schemeClr>
              </a:solidFill>
              <a:prstDash val="solid"/>
              <a:headEnd type="triangle"/>
              <a:tailEnd type="none"/>
            </a:ln>
            <a:effectLst>
              <a:softEdge rad="12700"/>
            </a:effectLst>
            <a:scene3d>
              <a:camera prst="orthographicFront"/>
              <a:lightRig rig="threePt" dir="t">
                <a:rot lat="0" lon="0" rev="600000"/>
              </a:lightRig>
            </a:scene3d>
            <a:sp3d prstMaterial="dkEdge">
              <a:bevelT w="158750" h="254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Sun 6"/>
            <p:cNvSpPr/>
            <p:nvPr/>
          </p:nvSpPr>
          <p:spPr>
            <a:xfrm rot="19891773">
              <a:off x="8037215" y="4038096"/>
              <a:ext cx="387078" cy="364638"/>
            </a:xfrm>
            <a:prstGeom prst="sun">
              <a:avLst>
                <a:gd name="adj" fmla="val 20252"/>
              </a:avLst>
            </a:prstGeom>
            <a:solidFill>
              <a:srgbClr val="FFFF00"/>
            </a:solidFill>
            <a:ln>
              <a:solidFill>
                <a:schemeClr val="accent6">
                  <a:lumMod val="75000"/>
                </a:schemeClr>
              </a:solidFill>
            </a:ln>
            <a:scene3d>
              <a:camera prst="isometricOffAxis1Left"/>
              <a:lightRig rig="threePt" dir="t"/>
            </a:scene3d>
            <a:sp3d>
              <a:bevelT w="133350" h="1079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Arrow Connector 7"/>
            <p:cNvCxnSpPr/>
            <p:nvPr/>
          </p:nvCxnSpPr>
          <p:spPr>
            <a:xfrm flipH="1">
              <a:off x="7349207" y="4274679"/>
              <a:ext cx="881548" cy="1610018"/>
            </a:xfrm>
            <a:prstGeom prst="straightConnector1">
              <a:avLst/>
            </a:prstGeom>
            <a:ln w="76200" cmpd="sng">
              <a:solidFill>
                <a:schemeClr val="accent4">
                  <a:lumMod val="60000"/>
                  <a:lumOff val="40000"/>
                </a:schemeClr>
              </a:solidFill>
              <a:prstDash val="solid"/>
              <a:headEnd type="triangle"/>
              <a:tailEnd type="none"/>
            </a:ln>
            <a:effectLst>
              <a:softEdge rad="12700"/>
            </a:effectLst>
            <a:scene3d>
              <a:camera prst="orthographicFront"/>
              <a:lightRig rig="threePt" dir="t">
                <a:rot lat="0" lon="0" rev="600000"/>
              </a:lightRig>
            </a:scene3d>
            <a:sp3d prstMaterial="dkEdge">
              <a:bevelT w="158750" h="254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Smiley Face 8"/>
            <p:cNvSpPr/>
            <p:nvPr/>
          </p:nvSpPr>
          <p:spPr>
            <a:xfrm rot="1357203">
              <a:off x="5405542" y="4183047"/>
              <a:ext cx="572202" cy="579799"/>
            </a:xfrm>
            <a:prstGeom prst="smileyFace">
              <a:avLst>
                <a:gd name="adj" fmla="val 4653"/>
              </a:avLst>
            </a:prstGeom>
            <a:scene3d>
              <a:camera prst="isometricOffAxis2Right"/>
              <a:lightRig rig="threePt" dir="t"/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/>
            <p:cNvCxnSpPr/>
            <p:nvPr/>
          </p:nvCxnSpPr>
          <p:spPr>
            <a:xfrm flipH="1" flipV="1">
              <a:off x="5691643" y="4605659"/>
              <a:ext cx="940064" cy="1348392"/>
            </a:xfrm>
            <a:prstGeom prst="straightConnector1">
              <a:avLst/>
            </a:prstGeom>
            <a:ln w="76200" cmpd="sng">
              <a:solidFill>
                <a:schemeClr val="accent3">
                  <a:lumMod val="60000"/>
                  <a:lumOff val="40000"/>
                </a:schemeClr>
              </a:solidFill>
              <a:prstDash val="solid"/>
              <a:headEnd type="none"/>
              <a:tailEnd type="triangle"/>
            </a:ln>
            <a:effectLst>
              <a:softEdge rad="12700"/>
            </a:effectLst>
            <a:scene3d>
              <a:camera prst="orthographicFront"/>
              <a:lightRig rig="soft" dir="t"/>
            </a:scene3d>
            <a:sp3d prstMaterial="softEdge">
              <a:bevelT w="158750" h="254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 flipH="1" flipV="1">
              <a:off x="5794940" y="4566390"/>
              <a:ext cx="1565794" cy="1318307"/>
            </a:xfrm>
            <a:prstGeom prst="straightConnector1">
              <a:avLst/>
            </a:prstGeom>
            <a:ln w="76200" cmpd="sng">
              <a:solidFill>
                <a:schemeClr val="accent3">
                  <a:lumMod val="60000"/>
                  <a:lumOff val="40000"/>
                </a:schemeClr>
              </a:solidFill>
              <a:prstDash val="solid"/>
              <a:headEnd type="none"/>
              <a:tailEnd type="triangle"/>
            </a:ln>
            <a:effectLst>
              <a:softEdge rad="12700"/>
            </a:effectLst>
            <a:scene3d>
              <a:camera prst="orthographicFront"/>
              <a:lightRig rig="soft" dir="t"/>
            </a:scene3d>
            <a:sp3d prstMaterial="softEdge">
              <a:bevelT w="158750" h="254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/>
                <p:cNvSpPr/>
                <p:nvPr/>
              </p:nvSpPr>
              <p:spPr>
                <a:xfrm>
                  <a:off x="5316049" y="3308388"/>
                  <a:ext cx="1907353" cy="102239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1600" dirty="0">
                      <a:solidFill>
                        <a:schemeClr val="tx1"/>
                      </a:solidFill>
                    </a:rPr>
                    <a:t>Different </a:t>
                  </a: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a14:m>
                  <a:r>
                    <a:rPr lang="en-US" sz="1600" dirty="0">
                      <a:solidFill>
                        <a:schemeClr val="tx1"/>
                      </a:solidFill>
                    </a:rPr>
                    <a:t> vector for each visible point</a:t>
                  </a:r>
                </a:p>
              </p:txBody>
            </p:sp>
          </mc:Choice>
          <mc:Fallback xmlns="">
            <p:sp>
              <p:nvSpPr>
                <p:cNvPr id="12" name="Rectangle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6049" y="3308388"/>
                  <a:ext cx="1907353" cy="1022390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1917" r="-63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/>
            <p:cNvCxnSpPr/>
            <p:nvPr/>
          </p:nvCxnSpPr>
          <p:spPr>
            <a:xfrm>
              <a:off x="7046199" y="4095307"/>
              <a:ext cx="788193" cy="818892"/>
            </a:xfrm>
            <a:prstGeom prst="straightConnector1">
              <a:avLst/>
            </a:prstGeom>
            <a:ln w="31750">
              <a:solidFill>
                <a:srgbClr val="FF0000"/>
              </a:solidFill>
              <a:prstDash val="dashDot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7046199" y="4095307"/>
              <a:ext cx="788193" cy="454721"/>
            </a:xfrm>
            <a:prstGeom prst="straightConnector1">
              <a:avLst/>
            </a:prstGeom>
            <a:ln w="31750">
              <a:solidFill>
                <a:srgbClr val="FF0000"/>
              </a:solidFill>
              <a:prstDash val="dashDot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>
            <a:off x="272070" y="4737997"/>
            <a:ext cx="2764500" cy="2065902"/>
            <a:chOff x="179514" y="4855091"/>
            <a:chExt cx="2764500" cy="2065902"/>
          </a:xfrm>
        </p:grpSpPr>
        <p:pic>
          <p:nvPicPr>
            <p:cNvPr id="14339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9514" y="4855091"/>
              <a:ext cx="2764500" cy="18325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5" name="Rectangle 24"/>
            <p:cNvSpPr/>
            <p:nvPr/>
          </p:nvSpPr>
          <p:spPr>
            <a:xfrm>
              <a:off x="182313" y="6120893"/>
              <a:ext cx="2388642" cy="8001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bg1"/>
                  </a:solidFill>
                </a:rPr>
                <a:t>Rendered image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3321268" y="4057707"/>
            <a:ext cx="5324585" cy="2524953"/>
            <a:chOff x="3427858" y="3777207"/>
            <a:chExt cx="5324585" cy="2524953"/>
          </a:xfrm>
        </p:grpSpPr>
        <p:pic>
          <p:nvPicPr>
            <p:cNvPr id="14338" name="Picture 2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76900" y="3936334"/>
              <a:ext cx="3233140" cy="22700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4340" name="Picture 4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76018" y="5278836"/>
              <a:ext cx="1876425" cy="6667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4341" name="Picture 5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27858" y="4067706"/>
              <a:ext cx="1951924" cy="7066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4342" name="Picture 6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68867" y="3777207"/>
              <a:ext cx="1545826" cy="8727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3" name="Rectangle 22"/>
            <p:cNvSpPr/>
            <p:nvPr/>
          </p:nvSpPr>
          <p:spPr>
            <a:xfrm>
              <a:off x="3729159" y="5356906"/>
              <a:ext cx="1247741" cy="9452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tx1"/>
                  </a:solidFill>
                </a:rPr>
                <a:t>Point Lights</a:t>
              </a:r>
            </a:p>
          </p:txBody>
        </p:sp>
        <p:cxnSp>
          <p:nvCxnSpPr>
            <p:cNvPr id="24" name="Straight Arrow Connector 23"/>
            <p:cNvCxnSpPr/>
            <p:nvPr/>
          </p:nvCxnSpPr>
          <p:spPr>
            <a:xfrm flipV="1">
              <a:off x="4572000" y="4274680"/>
              <a:ext cx="925620" cy="1379611"/>
            </a:xfrm>
            <a:prstGeom prst="straightConnector1">
              <a:avLst/>
            </a:prstGeom>
            <a:ln w="22225">
              <a:solidFill>
                <a:srgbClr val="FF0000"/>
              </a:solidFill>
              <a:prstDash val="dashDot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 flipV="1">
              <a:off x="4572000" y="5200300"/>
              <a:ext cx="2808889" cy="453991"/>
            </a:xfrm>
            <a:prstGeom prst="straightConnector1">
              <a:avLst/>
            </a:prstGeom>
            <a:ln w="22225">
              <a:solidFill>
                <a:srgbClr val="FF0000"/>
              </a:solidFill>
              <a:prstDash val="dashDot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42987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Now, my desk lamp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156" y="3077859"/>
            <a:ext cx="2994806" cy="2223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3432156" y="3077859"/>
            <a:ext cx="2726589" cy="204524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http://0.tqn.com/d/drawsketch/1/0/N/J/eggsetup.jpg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66" y="2665510"/>
            <a:ext cx="2801838" cy="1853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Content Placeholder 2"/>
          <p:cNvSpPr txBox="1">
            <a:spLocks/>
          </p:cNvSpPr>
          <p:nvPr/>
        </p:nvSpPr>
        <p:spPr>
          <a:xfrm>
            <a:off x="124166" y="2665510"/>
            <a:ext cx="2728913" cy="193567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http://www.mackayphotography.co.uk/light_pollution.htm</a:t>
            </a:r>
          </a:p>
        </p:txBody>
      </p:sp>
      <p:sp>
        <p:nvSpPr>
          <p:cNvPr id="22" name="Content Placeholder 2"/>
          <p:cNvSpPr txBox="1">
            <a:spLocks/>
          </p:cNvSpPr>
          <p:nvPr/>
        </p:nvSpPr>
        <p:spPr>
          <a:xfrm>
            <a:off x="639518" y="1475382"/>
            <a:ext cx="8047281" cy="45105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How would you describe the light source of these scenes?</a:t>
            </a:r>
          </a:p>
        </p:txBody>
      </p: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8229" y="2585567"/>
            <a:ext cx="2100485" cy="3288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" name="Content Placeholder 2"/>
          <p:cNvSpPr txBox="1">
            <a:spLocks/>
          </p:cNvSpPr>
          <p:nvPr/>
        </p:nvSpPr>
        <p:spPr>
          <a:xfrm>
            <a:off x="6708229" y="2585566"/>
            <a:ext cx="2245037" cy="273479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>
                <a:solidFill>
                  <a:schemeClr val="bg1"/>
                </a:solidFill>
              </a:rPr>
              <a:t>http://agreenliving.org/tag/concept-design/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6" name="Picture 2" descr="C:\Users\ksung\Desktop\ScreenHunter_13 Sep. 01 18.06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031" y="4658962"/>
            <a:ext cx="2819677" cy="1854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Content Placeholder 2"/>
          <p:cNvSpPr>
            <a:spLocks noGrp="1"/>
          </p:cNvSpPr>
          <p:nvPr>
            <p:ph idx="1"/>
          </p:nvPr>
        </p:nvSpPr>
        <p:spPr>
          <a:xfrm>
            <a:off x="449031" y="4658962"/>
            <a:ext cx="2595962" cy="21035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http://www.how-to-refinish-hardwood-floors.wirze.com</a:t>
            </a:r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868569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Spot Light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0124" y="1398247"/>
                <a:ext cx="5247891" cy="4525963"/>
              </a:xfrm>
            </p:spPr>
            <p:txBody>
              <a:bodyPr/>
              <a:lstStyle/>
              <a:p>
                <a:r>
                  <a:rPr lang="en-US" dirty="0"/>
                  <a:t>Direction + Position:</a:t>
                </a:r>
              </a:p>
              <a:p>
                <a:pPr lvl="1"/>
                <a:r>
                  <a:rPr lang="en-US" dirty="0"/>
                  <a:t>Pointing direction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0" i="0" smtClean="0">
                            <a:latin typeface="Cambria Math"/>
                            <a:ea typeface="Cambria Math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𝐿</m:t>
                            </m:r>
                          </m:e>
                        </m:acc>
                      </m:e>
                    </m:d>
                  </m:oMath>
                </a14:m>
                <a:endParaRPr lang="en-US" b="0" dirty="0">
                  <a:ea typeface="Cambria Math"/>
                </a:endParaRPr>
              </a:p>
              <a:p>
                <a:pPr lvl="8"/>
                <a:endParaRPr lang="en-US" dirty="0">
                  <a:ea typeface="Cambria Math"/>
                </a:endParaRPr>
              </a:p>
              <a:p>
                <a:pPr lvl="1"/>
                <a:r>
                  <a:rPr lang="en-US" dirty="0"/>
                  <a:t>As in point light, for each visible point</a:t>
                </a:r>
                <a:br>
                  <a:rPr lang="en-US" dirty="0"/>
                </a:b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𝐿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i="1">
                        <a:latin typeface="Cambria Math"/>
                        <a:ea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/>
                            <a:ea typeface="Cambria Math"/>
                          </a:rPr>
                          <m:t>𝐿</m:t>
                        </m:r>
                      </m:sub>
                    </m:sSub>
                    <m:r>
                      <a:rPr lang="en-US" i="1">
                        <a:latin typeface="Cambria Math"/>
                        <a:ea typeface="Cambria Math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/>
                            <a:ea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 is unique!</a:t>
                </a:r>
              </a:p>
              <a:p>
                <a:pPr lvl="8"/>
                <a:endParaRPr lang="en-US" dirty="0"/>
              </a:p>
              <a:p>
                <a:pPr lvl="1"/>
                <a:r>
                  <a:rPr lang="en-US" dirty="0"/>
                  <a:t>Cone angle (</a:t>
                </a:r>
                <a:r>
                  <a:rPr lang="el-GR" dirty="0"/>
                  <a:t>θ</a:t>
                </a:r>
                <a:r>
                  <a:rPr lang="en-US" dirty="0"/>
                  <a:t>) defines illumination range</a:t>
                </a:r>
              </a:p>
              <a:p>
                <a:pPr lvl="1"/>
                <a:endParaRPr lang="en-US" dirty="0"/>
              </a:p>
              <a:p>
                <a:pPr marL="3657600" lvl="8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0124" y="1398247"/>
                <a:ext cx="5247891" cy="4525963"/>
              </a:xfrm>
              <a:blipFill rotWithShape="1">
                <a:blip r:embed="rId2"/>
                <a:stretch>
                  <a:fillRect l="-2555" t="-1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09" name="Group 4108"/>
          <p:cNvGrpSpPr/>
          <p:nvPr/>
        </p:nvGrpSpPr>
        <p:grpSpPr>
          <a:xfrm>
            <a:off x="5227195" y="1663749"/>
            <a:ext cx="3320771" cy="3265158"/>
            <a:chOff x="5451557" y="1503970"/>
            <a:chExt cx="3320771" cy="3265158"/>
          </a:xfrm>
        </p:grpSpPr>
        <p:sp>
          <p:nvSpPr>
            <p:cNvPr id="23" name="Trapezoid 22"/>
            <p:cNvSpPr/>
            <p:nvPr/>
          </p:nvSpPr>
          <p:spPr>
            <a:xfrm>
              <a:off x="6164843" y="3184369"/>
              <a:ext cx="2087116" cy="600250"/>
            </a:xfrm>
            <a:prstGeom prst="trapezoid">
              <a:avLst>
                <a:gd name="adj" fmla="val 56308"/>
              </a:avLst>
            </a:prstGeom>
            <a:pattFill prst="wdDnDiag">
              <a:fgClr>
                <a:schemeClr val="accent1"/>
              </a:fgClr>
              <a:bgClr>
                <a:schemeClr val="accent1">
                  <a:lumMod val="60000"/>
                  <a:lumOff val="40000"/>
                </a:schemeClr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6490345" y="3174535"/>
              <a:ext cx="1165275" cy="572203"/>
            </a:xfrm>
            <a:prstGeom prst="ellipse">
              <a:avLst/>
            </a:prstGeom>
            <a:solidFill>
              <a:schemeClr val="accent4">
                <a:lumMod val="60000"/>
                <a:lumOff val="40000"/>
                <a:alpha val="63000"/>
              </a:schemeClr>
            </a:solidFill>
            <a:ln>
              <a:noFill/>
            </a:ln>
            <a:scene3d>
              <a:camera prst="isometricOffAxis2Top">
                <a:rot lat="18075712" lon="3207255" rev="1844144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5904277" y="1677159"/>
              <a:ext cx="1200504" cy="1776618"/>
              <a:chOff x="5020785" y="1516344"/>
              <a:chExt cx="1200504" cy="1776618"/>
            </a:xfrm>
          </p:grpSpPr>
          <p:pic>
            <p:nvPicPr>
              <p:cNvPr id="4098" name="Picture 2" descr="C:\Users\ksung\Desktop\ScreenHunter_24 Sep. 01 02.30.jpg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20785" y="1516344"/>
                <a:ext cx="544151" cy="6399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24" name="Straight Arrow Connector 23"/>
              <p:cNvCxnSpPr/>
              <p:nvPr/>
            </p:nvCxnSpPr>
            <p:spPr>
              <a:xfrm flipH="1" flipV="1">
                <a:off x="5316049" y="2002704"/>
                <a:ext cx="905240" cy="1290258"/>
              </a:xfrm>
              <a:prstGeom prst="straightConnector1">
                <a:avLst/>
              </a:prstGeom>
              <a:ln w="76200" cmpd="sng">
                <a:solidFill>
                  <a:schemeClr val="accent4">
                    <a:lumMod val="60000"/>
                    <a:lumOff val="40000"/>
                  </a:schemeClr>
                </a:solidFill>
                <a:prstDash val="solid"/>
                <a:headEnd type="triangle"/>
                <a:tailEnd type="none"/>
              </a:ln>
              <a:effectLst>
                <a:softEdge rad="12700"/>
              </a:effectLst>
              <a:scene3d>
                <a:camera prst="orthographicFront"/>
                <a:lightRig rig="threePt" dir="t">
                  <a:rot lat="0" lon="0" rev="600000"/>
                </a:lightRig>
              </a:scene3d>
              <a:sp3d prstMaterial="dkEdge">
                <a:bevelT w="158750" h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1" name="Straight Arrow Connector 30"/>
            <p:cNvCxnSpPr/>
            <p:nvPr/>
          </p:nvCxnSpPr>
          <p:spPr>
            <a:xfrm>
              <a:off x="6225224" y="2114432"/>
              <a:ext cx="1314980" cy="1294329"/>
            </a:xfrm>
            <a:prstGeom prst="straightConnector1">
              <a:avLst/>
            </a:prstGeom>
            <a:ln w="19050">
              <a:solidFill>
                <a:schemeClr val="accent4">
                  <a:lumMod val="60000"/>
                  <a:lumOff val="40000"/>
                </a:schemeClr>
              </a:solidFill>
              <a:prstDash val="sysDash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>
              <a:off x="6171491" y="2215175"/>
              <a:ext cx="437483" cy="1269319"/>
            </a:xfrm>
            <a:prstGeom prst="straightConnector1">
              <a:avLst/>
            </a:prstGeom>
            <a:ln w="19050">
              <a:solidFill>
                <a:schemeClr val="accent4">
                  <a:lumMod val="60000"/>
                  <a:lumOff val="40000"/>
                </a:schemeClr>
              </a:solidFill>
              <a:prstDash val="sysDash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/>
                <p:cNvSpPr/>
                <p:nvPr/>
              </p:nvSpPr>
              <p:spPr>
                <a:xfrm>
                  <a:off x="5491186" y="1503970"/>
                  <a:ext cx="777895" cy="74120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Rectangle 2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1186" y="1503970"/>
                  <a:ext cx="777895" cy="741206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234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Smiley Face 33"/>
            <p:cNvSpPr/>
            <p:nvPr/>
          </p:nvSpPr>
          <p:spPr>
            <a:xfrm rot="234836">
              <a:off x="8200126" y="1762819"/>
              <a:ext cx="572202" cy="579799"/>
            </a:xfrm>
            <a:prstGeom prst="smileyFace">
              <a:avLst>
                <a:gd name="adj" fmla="val 4653"/>
              </a:avLst>
            </a:prstGeom>
            <a:scene3d>
              <a:camera prst="isometricOffAxis1Left">
                <a:rot lat="1658128" lon="4014475" rev="967910"/>
              </a:camera>
              <a:lightRig rig="threePt" dir="t"/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9" name="Straight Arrow Connector 38"/>
            <p:cNvCxnSpPr/>
            <p:nvPr/>
          </p:nvCxnSpPr>
          <p:spPr>
            <a:xfrm flipV="1">
              <a:off x="7104781" y="2052718"/>
              <a:ext cx="1288115" cy="1401060"/>
            </a:xfrm>
            <a:prstGeom prst="straightConnector1">
              <a:avLst/>
            </a:prstGeom>
            <a:ln w="41275" cmpd="sng">
              <a:solidFill>
                <a:schemeClr val="accent3">
                  <a:lumMod val="60000"/>
                  <a:lumOff val="40000"/>
                  <a:alpha val="67000"/>
                </a:schemeClr>
              </a:solidFill>
              <a:prstDash val="solid"/>
              <a:headEnd type="none"/>
              <a:tailEnd type="triangle"/>
            </a:ln>
            <a:effectLst>
              <a:softEdge rad="12700"/>
            </a:effectLst>
            <a:scene3d>
              <a:camera prst="orthographicFront"/>
              <a:lightRig rig="soft" dir="t"/>
            </a:scene3d>
            <a:sp3d prstMaterial="softEdge">
              <a:bevelT w="158750" h="254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Rectangle 47"/>
                <p:cNvSpPr/>
                <p:nvPr/>
              </p:nvSpPr>
              <p:spPr>
                <a:xfrm>
                  <a:off x="6578207" y="3746738"/>
                  <a:ext cx="1907353" cy="102239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1600" dirty="0">
                      <a:solidFill>
                        <a:schemeClr val="tx1"/>
                      </a:solidFill>
                    </a:rPr>
                    <a:t>Different </a:t>
                  </a: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a14:m>
                  <a:r>
                    <a:rPr lang="en-US" sz="1600" dirty="0">
                      <a:solidFill>
                        <a:schemeClr val="tx1"/>
                      </a:solidFill>
                    </a:rPr>
                    <a:t> vector for each visible point</a:t>
                  </a:r>
                </a:p>
              </p:txBody>
            </p:sp>
          </mc:Choice>
          <mc:Fallback xmlns="">
            <p:sp>
              <p:nvSpPr>
                <p:cNvPr id="48" name="Rectangle 4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78207" y="3746738"/>
                  <a:ext cx="1907353" cy="1022390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1597" r="-95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9" name="Straight Arrow Connector 48"/>
            <p:cNvCxnSpPr/>
            <p:nvPr/>
          </p:nvCxnSpPr>
          <p:spPr>
            <a:xfrm>
              <a:off x="5780088" y="2361471"/>
              <a:ext cx="610144" cy="229273"/>
            </a:xfrm>
            <a:prstGeom prst="straightConnector1">
              <a:avLst/>
            </a:prstGeom>
            <a:ln w="25400">
              <a:solidFill>
                <a:srgbClr val="FF0000"/>
              </a:solidFill>
              <a:prstDash val="sysDot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/>
            <p:nvPr/>
          </p:nvCxnSpPr>
          <p:spPr>
            <a:xfrm>
              <a:off x="5904277" y="2831440"/>
              <a:ext cx="747884" cy="74445"/>
            </a:xfrm>
            <a:prstGeom prst="straightConnector1">
              <a:avLst/>
            </a:prstGeom>
            <a:ln w="25400">
              <a:solidFill>
                <a:srgbClr val="FF0000"/>
              </a:solidFill>
              <a:prstDash val="sysDot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 flipH="1" flipV="1">
              <a:off x="6199541" y="2163519"/>
              <a:ext cx="1183164" cy="1297117"/>
            </a:xfrm>
            <a:prstGeom prst="straightConnector1">
              <a:avLst/>
            </a:prstGeom>
            <a:ln w="41275" cmpd="sng">
              <a:solidFill>
                <a:schemeClr val="accent4">
                  <a:lumMod val="40000"/>
                  <a:lumOff val="60000"/>
                  <a:alpha val="75000"/>
                </a:schemeClr>
              </a:solidFill>
              <a:prstDash val="solid"/>
              <a:headEnd type="triangle"/>
              <a:tailEnd type="none"/>
            </a:ln>
            <a:effectLst>
              <a:softEdge rad="12700"/>
            </a:effectLst>
            <a:scene3d>
              <a:camera prst="orthographicFront"/>
              <a:lightRig rig="threePt" dir="t">
                <a:rot lat="0" lon="0" rev="600000"/>
              </a:lightRig>
            </a:scene3d>
            <a:sp3d prstMaterial="dkEdge">
              <a:bevelT w="158750" h="254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/>
                <p:cNvSpPr/>
                <p:nvPr/>
              </p:nvSpPr>
              <p:spPr>
                <a:xfrm>
                  <a:off x="5451557" y="2460837"/>
                  <a:ext cx="777895" cy="74120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b="0" i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𝐿</m:t>
                            </m:r>
                          </m:e>
                        </m:acc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Rectangle 2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1557" y="2460837"/>
                  <a:ext cx="777895" cy="741206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Straight Arrow Connector 53"/>
            <p:cNvCxnSpPr/>
            <p:nvPr/>
          </p:nvCxnSpPr>
          <p:spPr>
            <a:xfrm flipV="1">
              <a:off x="7382704" y="2114432"/>
              <a:ext cx="1010192" cy="1370062"/>
            </a:xfrm>
            <a:prstGeom prst="straightConnector1">
              <a:avLst/>
            </a:prstGeom>
            <a:ln w="41275" cmpd="sng">
              <a:solidFill>
                <a:schemeClr val="accent3">
                  <a:lumMod val="60000"/>
                  <a:lumOff val="40000"/>
                  <a:alpha val="67000"/>
                </a:schemeClr>
              </a:solidFill>
              <a:prstDash val="solid"/>
              <a:headEnd type="none"/>
              <a:tailEnd type="triangle"/>
            </a:ln>
            <a:effectLst>
              <a:softEdge rad="12700"/>
            </a:effectLst>
            <a:scene3d>
              <a:camera prst="orthographicFront"/>
              <a:lightRig rig="soft" dir="t"/>
            </a:scene3d>
            <a:sp3d prstMaterial="softEdge">
              <a:bevelT w="158750" h="254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Arc 60"/>
            <p:cNvSpPr/>
            <p:nvPr/>
          </p:nvSpPr>
          <p:spPr>
            <a:xfrm rot="7134550">
              <a:off x="5991395" y="2029052"/>
              <a:ext cx="555372" cy="672470"/>
            </a:xfrm>
            <a:prstGeom prst="arc">
              <a:avLst>
                <a:gd name="adj1" fmla="val 15167071"/>
                <a:gd name="adj2" fmla="val 19333320"/>
              </a:avLst>
            </a:prstGeom>
            <a:ln w="60325">
              <a:solidFill>
                <a:schemeClr val="bg2">
                  <a:lumMod val="75000"/>
                </a:schemeClr>
              </a:solidFill>
            </a:ln>
            <a:scene3d>
              <a:camera prst="perspectiveLeft"/>
              <a:lightRig rig="threePt" dir="t"/>
            </a:scene3d>
            <a:sp3d>
              <a:bevelT prst="convex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5491186" y="2114432"/>
              <a:ext cx="577804" cy="53749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l-GR" sz="2000" dirty="0">
                  <a:solidFill>
                    <a:schemeClr val="tx1"/>
                  </a:solidFill>
                </a:rPr>
                <a:t>θ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cxnSp>
          <p:nvCxnSpPr>
            <p:cNvPr id="67" name="Straight Arrow Connector 66"/>
            <p:cNvCxnSpPr/>
            <p:nvPr/>
          </p:nvCxnSpPr>
          <p:spPr>
            <a:xfrm flipH="1" flipV="1">
              <a:off x="7104781" y="3484494"/>
              <a:ext cx="277925" cy="552567"/>
            </a:xfrm>
            <a:prstGeom prst="straightConnector1">
              <a:avLst/>
            </a:prstGeom>
            <a:ln w="25400">
              <a:solidFill>
                <a:srgbClr val="FF0000"/>
              </a:solidFill>
              <a:prstDash val="sysDot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/>
            <p:nvPr/>
          </p:nvCxnSpPr>
          <p:spPr>
            <a:xfrm flipH="1" flipV="1">
              <a:off x="7321421" y="3453778"/>
              <a:ext cx="61283" cy="583283"/>
            </a:xfrm>
            <a:prstGeom prst="straightConnector1">
              <a:avLst/>
            </a:prstGeom>
            <a:ln w="25400">
              <a:solidFill>
                <a:srgbClr val="FF0000"/>
              </a:solidFill>
              <a:prstDash val="sysDot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77950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300999" y="712343"/>
            <a:ext cx="2949994" cy="2367949"/>
            <a:chOff x="696386" y="3123304"/>
            <a:chExt cx="2949994" cy="2367949"/>
          </a:xfrm>
        </p:grpSpPr>
        <p:pic>
          <p:nvPicPr>
            <p:cNvPr id="20483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6876" y="3379658"/>
              <a:ext cx="2899504" cy="21115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0" name="Rectangle 9"/>
            <p:cNvSpPr/>
            <p:nvPr/>
          </p:nvSpPr>
          <p:spPr>
            <a:xfrm>
              <a:off x="696386" y="3123304"/>
              <a:ext cx="2388642" cy="8001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bg1"/>
                  </a:solidFill>
                </a:rPr>
                <a:t>Rendered image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3498497" y="397027"/>
            <a:ext cx="6067175" cy="4106890"/>
            <a:chOff x="3167521" y="1184448"/>
            <a:chExt cx="6067175" cy="4106890"/>
          </a:xfrm>
        </p:grpSpPr>
        <p:pic>
          <p:nvPicPr>
            <p:cNvPr id="20482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8756" y="2086878"/>
              <a:ext cx="3072018" cy="25855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484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7521" y="1184448"/>
              <a:ext cx="2097098" cy="11201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485" name="Picture 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14765" y="1553379"/>
              <a:ext cx="2035720" cy="6444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486" name="Picture 6" descr="C:\Users\ksung\Desktop\ScreenHunter_56 Sep. 02 01.11.jp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93861" y="2757785"/>
              <a:ext cx="2040835" cy="11099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487" name="Picture 7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8751" y="4053538"/>
              <a:ext cx="2015261" cy="1237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5804858" y="4689913"/>
            <a:ext cx="2740396" cy="95355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hlinkClick r:id="rId8" action="ppaction://hlinkfile"/>
              </a:rPr>
              <a:t>Maya Scene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4422" y="2857100"/>
            <a:ext cx="1907353" cy="10223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</a:rPr>
              <a:t>Cone boundaries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650736" y="2208572"/>
            <a:ext cx="370502" cy="1106821"/>
          </a:xfrm>
          <a:prstGeom prst="straightConnector1">
            <a:avLst/>
          </a:prstGeom>
          <a:ln w="25400">
            <a:solidFill>
              <a:srgbClr val="FF0000"/>
            </a:solidFill>
            <a:prstDash val="sys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650736" y="2642215"/>
            <a:ext cx="639519" cy="673179"/>
          </a:xfrm>
          <a:prstGeom prst="straightConnector1">
            <a:avLst/>
          </a:prstGeom>
          <a:ln w="25400">
            <a:solidFill>
              <a:srgbClr val="FF0000"/>
            </a:solidFill>
            <a:prstDash val="sys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386" y="3929895"/>
            <a:ext cx="2994806" cy="2223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3795" y="3225651"/>
            <a:ext cx="2100485" cy="3288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4" name="Straight Arrow Connector 23"/>
          <p:cNvCxnSpPr/>
          <p:nvPr/>
        </p:nvCxnSpPr>
        <p:spPr>
          <a:xfrm flipH="1">
            <a:off x="532933" y="3392725"/>
            <a:ext cx="1032204" cy="1527084"/>
          </a:xfrm>
          <a:prstGeom prst="straightConnector1">
            <a:avLst/>
          </a:prstGeom>
          <a:ln w="25400">
            <a:solidFill>
              <a:srgbClr val="FF0000"/>
            </a:solidFill>
            <a:prstDash val="sys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1565136" y="3392725"/>
            <a:ext cx="976111" cy="537170"/>
          </a:xfrm>
          <a:prstGeom prst="straightConnector1">
            <a:avLst/>
          </a:prstGeom>
          <a:ln w="25400">
            <a:solidFill>
              <a:srgbClr val="FF0000"/>
            </a:solidFill>
            <a:prstDash val="sysDot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 rot="879935">
            <a:off x="2530853" y="3739137"/>
            <a:ext cx="404275" cy="897737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 rot="3820071">
            <a:off x="-48214" y="4822430"/>
            <a:ext cx="655216" cy="897737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592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Spotlight bounds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ontent Placeholder 2"/>
              <p:cNvSpPr txBox="1">
                <a:spLocks/>
              </p:cNvSpPr>
              <p:nvPr/>
            </p:nvSpPr>
            <p:spPr>
              <a:xfrm>
                <a:off x="-200699" y="1373082"/>
                <a:ext cx="8525605" cy="510391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/>
                <a:r>
                  <a:rPr lang="en-US" dirty="0"/>
                  <a:t>Position: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/>
                            <a:ea typeface="Cambria Math"/>
                          </a:rPr>
                          <m:t>𝐿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Main direction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/>
                        <a:ea typeface="Cambria Math"/>
                      </a:rPr>
                      <m:t>:</m:t>
                    </m:r>
                    <m:r>
                      <a:rPr lang="en-US" b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/>
                        <a:ea typeface="Cambria Math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US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r>
                          <a:rPr lang="en-US" b="1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𝑳</m:t>
                        </m:r>
                      </m:e>
                    </m:acc>
                  </m:oMath>
                </a14:m>
                <a:endParaRPr lang="en-US" b="1" dirty="0">
                  <a:ea typeface="Cambria Math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00FF"/>
                        </a:solidFill>
                        <a:latin typeface="Cambria Math"/>
                        <a:ea typeface="Cambria Math"/>
                      </a:rPr>
                      <m:t>𝝋</m:t>
                    </m:r>
                  </m:oMath>
                </a14:m>
                <a:r>
                  <a:rPr lang="en-US" dirty="0">
                    <a:ea typeface="Cambria Math"/>
                  </a:rPr>
                  <a:t>: cone angle</a:t>
                </a:r>
              </a:p>
              <a:p>
                <a:pPr lvl="1"/>
                <a:r>
                  <a:rPr lang="el-GR" b="1" dirty="0">
                    <a:solidFill>
                      <a:srgbClr val="00FF00"/>
                    </a:solidFill>
                  </a:rPr>
                  <a:t>θ</a:t>
                </a:r>
                <a:r>
                  <a:rPr lang="en-US" dirty="0"/>
                  <a:t>: regions of full </a:t>
                </a:r>
                <a:br>
                  <a:rPr lang="en-US" dirty="0"/>
                </a:br>
                <a:r>
                  <a:rPr lang="en-US" dirty="0"/>
                  <a:t>     illumination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1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/>
                        <a:ea typeface="Cambria Math"/>
                      </a:rPr>
                      <m:t>𝛂</m:t>
                    </m:r>
                    <m:r>
                      <m:rPr>
                        <m:nor/>
                      </m:rPr>
                      <a:rPr lang="en-US" dirty="0"/>
                      <m:t>: </m:t>
                    </m:r>
                  </m:oMath>
                </a14:m>
                <a:r>
                  <a:rPr lang="en-US" dirty="0"/>
                  <a:t>angle to position</a:t>
                </a:r>
                <a:br>
                  <a:rPr lang="en-US" dirty="0"/>
                </a:br>
                <a:r>
                  <a:rPr lang="en-US" dirty="0"/>
                  <a:t>      for illumination</a:t>
                </a:r>
              </a:p>
              <a:p>
                <a:pPr lvl="1"/>
                <a:r>
                  <a:rPr lang="en-US" dirty="0"/>
                  <a:t>If </a:t>
                </a:r>
                <a:r>
                  <a:rPr lang="el-GR" b="1" dirty="0">
                    <a:solidFill>
                      <a:srgbClr val="00FF00"/>
                    </a:solidFill>
                  </a:rPr>
                  <a:t>θ</a:t>
                </a:r>
                <a:r>
                  <a:rPr lang="en-US" dirty="0"/>
                  <a:t>&lt;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/>
                        <a:ea typeface="Cambria Math"/>
                      </a:rPr>
                      <m:t> </m:t>
                    </m:r>
                    <m:r>
                      <a:rPr lang="en-US" b="1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/>
                        <a:ea typeface="Cambria Math"/>
                      </a:rPr>
                      <m:t>𝛂</m:t>
                    </m:r>
                  </m:oMath>
                </a14:m>
                <a:r>
                  <a:rPr lang="en-US" dirty="0"/>
                  <a:t> &lt;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00FF"/>
                        </a:solidFill>
                        <a:latin typeface="Cambria Math"/>
                        <a:ea typeface="Cambria Math"/>
                      </a:rPr>
                      <m:t>𝝋</m:t>
                    </m:r>
                    <m:r>
                      <a:rPr lang="en-US" b="0" i="0" smtClean="0">
                        <a:solidFill>
                          <a:srgbClr val="0000FF"/>
                        </a:solidFill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dirty="0"/>
                  <a:t>Illumination drops off  according to:</a:t>
                </a:r>
              </a:p>
            </p:txBody>
          </p:sp>
        </mc:Choice>
        <mc:Fallback xmlns="">
          <p:sp>
            <p:nvSpPr>
              <p:cNvPr id="31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00699" y="1373082"/>
                <a:ext cx="8525605" cy="5103918"/>
              </a:xfrm>
              <a:prstGeom prst="rect">
                <a:avLst/>
              </a:prstGeom>
              <a:blipFill rotWithShape="1">
                <a:blip r:embed="rId2"/>
                <a:stretch>
                  <a:fillRect t="-1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7" name="Group 126"/>
          <p:cNvGrpSpPr/>
          <p:nvPr/>
        </p:nvGrpSpPr>
        <p:grpSpPr>
          <a:xfrm>
            <a:off x="3549749" y="881130"/>
            <a:ext cx="5655187" cy="3684256"/>
            <a:chOff x="3406190" y="1356940"/>
            <a:chExt cx="5655187" cy="3684256"/>
          </a:xfrm>
        </p:grpSpPr>
        <p:grpSp>
          <p:nvGrpSpPr>
            <p:cNvPr id="120" name="Group 119"/>
            <p:cNvGrpSpPr/>
            <p:nvPr/>
          </p:nvGrpSpPr>
          <p:grpSpPr>
            <a:xfrm>
              <a:off x="3620147" y="1356940"/>
              <a:ext cx="5441230" cy="3684256"/>
              <a:chOff x="3109947" y="1903745"/>
              <a:chExt cx="5441230" cy="3684256"/>
            </a:xfrm>
          </p:grpSpPr>
          <p:sp>
            <p:nvSpPr>
              <p:cNvPr id="23" name="Trapezoid 22"/>
              <p:cNvSpPr/>
              <p:nvPr/>
            </p:nvSpPr>
            <p:spPr>
              <a:xfrm>
                <a:off x="3456166" y="3256845"/>
                <a:ext cx="4640084" cy="2331156"/>
              </a:xfrm>
              <a:prstGeom prst="trapezoid">
                <a:avLst>
                  <a:gd name="adj" fmla="val 56308"/>
                </a:avLst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/>
              <p:cNvSpPr/>
              <p:nvPr/>
            </p:nvSpPr>
            <p:spPr>
              <a:xfrm>
                <a:off x="4382383" y="3256845"/>
                <a:ext cx="2872226" cy="2285652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36000">
                    <a:srgbClr val="D9D9D9"/>
                  </a:gs>
                  <a:gs pos="61000">
                    <a:schemeClr val="bg1">
                      <a:lumMod val="65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Isosceles Triangle 3"/>
              <p:cNvSpPr/>
              <p:nvPr/>
            </p:nvSpPr>
            <p:spPr>
              <a:xfrm rot="18557723">
                <a:off x="3526862" y="2295494"/>
                <a:ext cx="859699" cy="1061354"/>
              </a:xfrm>
              <a:prstGeom prst="triangl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317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3257656" y="2795453"/>
                <a:ext cx="223602" cy="34217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l-GR" b="1" dirty="0">
                    <a:solidFill>
                      <a:srgbClr val="00FF00"/>
                    </a:solidFill>
                    <a:latin typeface="Cambria Math"/>
                    <a:ea typeface="Cambria Math"/>
                  </a:rPr>
                  <a:t>θ</a:t>
                </a:r>
                <a:endParaRPr lang="en-US" b="1" dirty="0">
                  <a:solidFill>
                    <a:srgbClr val="00FF00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Rectangle 29"/>
                  <p:cNvSpPr/>
                  <p:nvPr/>
                </p:nvSpPr>
                <p:spPr>
                  <a:xfrm>
                    <a:off x="3161642" y="3126450"/>
                    <a:ext cx="294524" cy="3554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l-GR" b="1" i="1" dirty="0" smtClean="0">
                              <a:solidFill>
                                <a:srgbClr val="0000FF"/>
                              </a:solidFill>
                              <a:latin typeface="Cambria Math"/>
                              <a:ea typeface="Cambria Math"/>
                            </a:rPr>
                            <m:t>𝝋</m:t>
                          </m:r>
                        </m:oMath>
                      </m:oMathPara>
                    </a14:m>
                    <a:endParaRPr lang="en-US" b="1" dirty="0">
                      <a:solidFill>
                        <a:srgbClr val="0000FF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0" name="Rectangle 2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61642" y="3126450"/>
                    <a:ext cx="294524" cy="355488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r="-20833" b="-8621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3" name="Straight Arrow Connector 52"/>
              <p:cNvCxnSpPr>
                <a:stCxn id="29" idx="3"/>
              </p:cNvCxnSpPr>
              <p:nvPr/>
            </p:nvCxnSpPr>
            <p:spPr>
              <a:xfrm>
                <a:off x="3481258" y="2966539"/>
                <a:ext cx="931992" cy="290306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prstDash val="dash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Arrow Connector 5"/>
              <p:cNvCxnSpPr>
                <a:stCxn id="4" idx="0"/>
              </p:cNvCxnSpPr>
              <p:nvPr/>
            </p:nvCxnSpPr>
            <p:spPr>
              <a:xfrm>
                <a:off x="3546026" y="2490083"/>
                <a:ext cx="2142327" cy="1768528"/>
              </a:xfrm>
              <a:prstGeom prst="straightConnector1">
                <a:avLst/>
              </a:prstGeom>
              <a:ln w="44450">
                <a:solidFill>
                  <a:schemeClr val="accent4">
                    <a:lumMod val="75000"/>
                  </a:schemeClr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/>
              <p:cNvCxnSpPr>
                <a:stCxn id="4" idx="0"/>
              </p:cNvCxnSpPr>
              <p:nvPr/>
            </p:nvCxnSpPr>
            <p:spPr>
              <a:xfrm>
                <a:off x="3546026" y="2490083"/>
                <a:ext cx="1889886" cy="2384847"/>
              </a:xfrm>
              <a:prstGeom prst="straightConnector1">
                <a:avLst/>
              </a:prstGeom>
              <a:ln w="22225">
                <a:solidFill>
                  <a:schemeClr val="accent3">
                    <a:lumMod val="75000"/>
                  </a:schemeClr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/>
              <p:cNvCxnSpPr/>
              <p:nvPr/>
            </p:nvCxnSpPr>
            <p:spPr>
              <a:xfrm>
                <a:off x="3546026" y="2490083"/>
                <a:ext cx="2938921" cy="878274"/>
              </a:xfrm>
              <a:prstGeom prst="straightConnector1">
                <a:avLst/>
              </a:prstGeom>
              <a:ln w="19050">
                <a:solidFill>
                  <a:schemeClr val="tx2">
                    <a:lumMod val="60000"/>
                    <a:lumOff val="40000"/>
                  </a:schemeClr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/>
              <p:cNvCxnSpPr>
                <a:stCxn id="4" idx="0"/>
              </p:cNvCxnSpPr>
              <p:nvPr/>
            </p:nvCxnSpPr>
            <p:spPr>
              <a:xfrm>
                <a:off x="3546026" y="2490083"/>
                <a:ext cx="1603785" cy="2923389"/>
              </a:xfrm>
              <a:prstGeom prst="straightConnector1">
                <a:avLst/>
              </a:prstGeom>
              <a:ln w="19050">
                <a:solidFill>
                  <a:schemeClr val="tx2">
                    <a:lumMod val="60000"/>
                    <a:lumOff val="40000"/>
                  </a:schemeClr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/>
              <p:cNvCxnSpPr>
                <a:stCxn id="4" idx="0"/>
              </p:cNvCxnSpPr>
              <p:nvPr/>
            </p:nvCxnSpPr>
            <p:spPr>
              <a:xfrm>
                <a:off x="3546026" y="2490083"/>
                <a:ext cx="2680870" cy="1307762"/>
              </a:xfrm>
              <a:prstGeom prst="straightConnector1">
                <a:avLst/>
              </a:prstGeom>
              <a:ln w="22225">
                <a:solidFill>
                  <a:schemeClr val="accent3">
                    <a:lumMod val="75000"/>
                  </a:schemeClr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/>
              <p:cNvCxnSpPr/>
              <p:nvPr/>
            </p:nvCxnSpPr>
            <p:spPr>
              <a:xfrm>
                <a:off x="3404918" y="3368357"/>
                <a:ext cx="1345329" cy="245643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prstDash val="dash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9" name="Group 118"/>
              <p:cNvGrpSpPr/>
              <p:nvPr/>
            </p:nvGrpSpPr>
            <p:grpSpPr>
              <a:xfrm>
                <a:off x="3109947" y="3523224"/>
                <a:ext cx="2249453" cy="491013"/>
                <a:chOff x="3059147" y="3460765"/>
                <a:chExt cx="2249453" cy="49101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4" name="Rectangle 53"/>
                    <p:cNvSpPr/>
                    <p:nvPr/>
                  </p:nvSpPr>
                  <p:spPr>
                    <a:xfrm>
                      <a:off x="3059147" y="3460765"/>
                      <a:ext cx="397019" cy="376770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/>
                                <a:ea typeface="Cambria Math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b="1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/>
                                    <a:ea typeface="Cambria Math"/>
                                  </a:rPr>
                                  <m:t>𝑳</m:t>
                                </m:r>
                              </m:e>
                            </m:acc>
                          </m:oMath>
                        </m:oMathPara>
                      </a14:m>
                      <a:endParaRPr lang="en-US" b="1" dirty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4" name="Rectangle 53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059147" y="3460765"/>
                      <a:ext cx="397019" cy="376770"/>
                    </a:xfrm>
                    <a:prstGeom prst="rect">
                      <a:avLst/>
                    </a:prstGeom>
                    <a:blipFill rotWithShape="1">
                      <a:blip r:embed="rId4"/>
                      <a:stretch>
                        <a:fillRect t="-1613" r="-4090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64" name="Straight Arrow Connector 63"/>
                <p:cNvCxnSpPr>
                  <a:stCxn id="54" idx="3"/>
                </p:cNvCxnSpPr>
                <p:nvPr/>
              </p:nvCxnSpPr>
              <p:spPr>
                <a:xfrm>
                  <a:off x="3456166" y="3649150"/>
                  <a:ext cx="1852434" cy="302628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prstDash val="dash"/>
                  <a:tailEnd type="triangle" w="med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2" name="Straight Arrow Connector 71"/>
              <p:cNvCxnSpPr>
                <a:stCxn id="4" idx="0"/>
              </p:cNvCxnSpPr>
              <p:nvPr/>
            </p:nvCxnSpPr>
            <p:spPr>
              <a:xfrm>
                <a:off x="3546026" y="2490083"/>
                <a:ext cx="2442315" cy="1001095"/>
              </a:xfrm>
              <a:prstGeom prst="straightConnector1">
                <a:avLst/>
              </a:prstGeom>
              <a:ln w="25400">
                <a:solidFill>
                  <a:schemeClr val="accent4">
                    <a:lumMod val="75000"/>
                    <a:alpha val="63000"/>
                  </a:schemeClr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Arc 26"/>
              <p:cNvSpPr/>
              <p:nvPr/>
            </p:nvSpPr>
            <p:spPr>
              <a:xfrm rot="5030679">
                <a:off x="3614690" y="2510900"/>
                <a:ext cx="960120" cy="958050"/>
              </a:xfrm>
              <a:prstGeom prst="arc">
                <a:avLst>
                  <a:gd name="adj1" fmla="val 16579259"/>
                  <a:gd name="adj2" fmla="val 20525152"/>
                </a:avLst>
              </a:prstGeom>
              <a:ln w="69850">
                <a:solidFill>
                  <a:srgbClr val="00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Arc 90"/>
              <p:cNvSpPr/>
              <p:nvPr/>
            </p:nvSpPr>
            <p:spPr>
              <a:xfrm rot="6571943">
                <a:off x="4692925" y="2884023"/>
                <a:ext cx="772716" cy="974351"/>
              </a:xfrm>
              <a:prstGeom prst="arc">
                <a:avLst>
                  <a:gd name="adj1" fmla="val 14487313"/>
                  <a:gd name="adj2" fmla="val 20525152"/>
                </a:avLst>
              </a:prstGeom>
              <a:ln w="69850">
                <a:solidFill>
                  <a:schemeClr val="accent4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1" name="Rectangle 100"/>
                  <p:cNvSpPr/>
                  <p:nvPr/>
                </p:nvSpPr>
                <p:spPr>
                  <a:xfrm>
                    <a:off x="3257656" y="1903745"/>
                    <a:ext cx="777895" cy="74120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𝐿</m:t>
                              </m:r>
                            </m:sub>
                          </m:sSub>
                        </m:oMath>
                      </m:oMathPara>
                    </a14:m>
                    <a:endParaRPr 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1" name="Rectangle 10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57656" y="1903745"/>
                    <a:ext cx="777895" cy="741206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l="-2362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0" name="Right Brace 109"/>
              <p:cNvSpPr/>
              <p:nvPr/>
            </p:nvSpPr>
            <p:spPr>
              <a:xfrm rot="1721968">
                <a:off x="5600261" y="4262710"/>
                <a:ext cx="176183" cy="675285"/>
              </a:xfrm>
              <a:prstGeom prst="rightBrace">
                <a:avLst>
                  <a:gd name="adj1" fmla="val 60845"/>
                  <a:gd name="adj2" fmla="val 50000"/>
                </a:avLst>
              </a:prstGeom>
              <a:ln w="19050">
                <a:solidFill>
                  <a:srgbClr val="00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Right Brace 110"/>
              <p:cNvSpPr/>
              <p:nvPr/>
            </p:nvSpPr>
            <p:spPr>
              <a:xfrm rot="1796585">
                <a:off x="5315850" y="4919494"/>
                <a:ext cx="176183" cy="557106"/>
              </a:xfrm>
              <a:prstGeom prst="rightBrace">
                <a:avLst>
                  <a:gd name="adj1" fmla="val 60845"/>
                  <a:gd name="adj2" fmla="val 50000"/>
                </a:avLst>
              </a:prstGeom>
              <a:ln w="1905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6869593" y="3137625"/>
                <a:ext cx="1603110" cy="71940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600" dirty="0">
                    <a:solidFill>
                      <a:schemeClr val="tx1"/>
                    </a:solidFill>
                  </a:rPr>
                  <a:t>Region: </a:t>
                </a:r>
                <a:br>
                  <a:rPr lang="en-US" sz="1600" dirty="0">
                    <a:solidFill>
                      <a:schemeClr val="tx1"/>
                    </a:solidFill>
                  </a:rPr>
                </a:br>
                <a:r>
                  <a:rPr lang="en-US" sz="1600" dirty="0">
                    <a:solidFill>
                      <a:schemeClr val="tx1"/>
                    </a:solidFill>
                  </a:rPr>
                  <a:t>fully illuminated</a:t>
                </a: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6791119" y="4011678"/>
                <a:ext cx="1760058" cy="71940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600" dirty="0">
                    <a:solidFill>
                      <a:schemeClr val="tx1"/>
                    </a:solidFill>
                  </a:rPr>
                  <a:t>Penumbra Region: gradual drop off</a:t>
                </a:r>
              </a:p>
            </p:txBody>
          </p:sp>
          <p:cxnSp>
            <p:nvCxnSpPr>
              <p:cNvPr id="115" name="Straight Arrow Connector 114"/>
              <p:cNvCxnSpPr/>
              <p:nvPr/>
            </p:nvCxnSpPr>
            <p:spPr>
              <a:xfrm flipH="1">
                <a:off x="5818496" y="3523224"/>
                <a:ext cx="1117476" cy="1112276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prstDash val="dash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Arrow Connector 117"/>
              <p:cNvCxnSpPr/>
              <p:nvPr/>
            </p:nvCxnSpPr>
            <p:spPr>
              <a:xfrm flipH="1">
                <a:off x="5517820" y="4371380"/>
                <a:ext cx="1351773" cy="887929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prstDash val="dash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Arc 27"/>
            <p:cNvSpPr>
              <a:spLocks noChangeAspect="1"/>
            </p:cNvSpPr>
            <p:nvPr/>
          </p:nvSpPr>
          <p:spPr>
            <a:xfrm rot="5000905">
              <a:off x="3403882" y="1375836"/>
              <a:ext cx="2139183" cy="2134568"/>
            </a:xfrm>
            <a:prstGeom prst="arc">
              <a:avLst>
                <a:gd name="adj1" fmla="val 16396294"/>
                <a:gd name="adj2" fmla="val 20724505"/>
              </a:avLst>
            </a:prstGeom>
            <a:ln w="698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Rectangle 131"/>
              <p:cNvSpPr/>
              <p:nvPr/>
            </p:nvSpPr>
            <p:spPr>
              <a:xfrm>
                <a:off x="5659143" y="1268982"/>
                <a:ext cx="397019" cy="3767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/>
                          <a:ea typeface="Cambria Math"/>
                        </a:rPr>
                        <m:t>𝛂</m:t>
                      </m:r>
                    </m:oMath>
                  </m:oMathPara>
                </a14:m>
                <a:endParaRPr lang="en-US" b="1" dirty="0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2" name="Rectangle 1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9143" y="1268982"/>
                <a:ext cx="397019" cy="37677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3" name="Straight Arrow Connector 132"/>
          <p:cNvCxnSpPr>
            <a:stCxn id="132" idx="2"/>
          </p:cNvCxnSpPr>
          <p:nvPr/>
        </p:nvCxnSpPr>
        <p:spPr>
          <a:xfrm>
            <a:off x="5857653" y="1645752"/>
            <a:ext cx="232018" cy="945633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Rectangle 135"/>
              <p:cNvSpPr/>
              <p:nvPr/>
            </p:nvSpPr>
            <p:spPr>
              <a:xfrm>
                <a:off x="6788176" y="1286049"/>
                <a:ext cx="1603110" cy="71940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600" dirty="0">
                    <a:solidFill>
                      <a:schemeClr val="tx1"/>
                    </a:solidFill>
                  </a:rPr>
                  <a:t>Illumination at this point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𝑓</m:t>
                        </m:r>
                      </m:sub>
                    </m:sSub>
                  </m:oMath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6" name="Rectangle 1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176" y="1286049"/>
                <a:ext cx="1603110" cy="719405"/>
              </a:xfrm>
              <a:prstGeom prst="rect">
                <a:avLst/>
              </a:prstGeom>
              <a:blipFill rotWithShape="1">
                <a:blip r:embed="rId7"/>
                <a:stretch>
                  <a:fillRect l="-2281" b="-84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7" name="Straight Arrow Connector 136"/>
          <p:cNvCxnSpPr/>
          <p:nvPr/>
        </p:nvCxnSpPr>
        <p:spPr>
          <a:xfrm flipH="1">
            <a:off x="6642100" y="1906605"/>
            <a:ext cx="615951" cy="568107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Rectangle 139"/>
              <p:cNvSpPr/>
              <p:nvPr/>
            </p:nvSpPr>
            <p:spPr>
              <a:xfrm>
                <a:off x="2821246" y="5379496"/>
                <a:ext cx="3283135" cy="10276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𝑓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en-US" i="1">
                                          <a:latin typeface="Cambria Math"/>
                                          <a:ea typeface="Cambria Math"/>
                                        </a:rPr>
                                        <m:t>𝛼</m:t>
                                      </m:r>
                                    </m:e>
                                  </m:func>
                                  <m:r>
                                    <a:rPr lang="en-US" i="1">
                                      <a:latin typeface="Cambria Math"/>
                                    </a:rPr>
                                    <m:t>−</m:t>
                                  </m:r>
                                  <m:func>
                                    <m:func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1">
                                              <a:latin typeface="Cambria Math"/>
                                              <a:ea typeface="Cambria Math"/>
                                            </a:rPr>
                                            <m:t>𝜑</m:t>
                                          </m:r>
                                        </m:num>
                                        <m:den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func>
                                </m:num>
                                <m:den>
                                  <m:func>
                                    <m:func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1">
                                              <a:latin typeface="Cambria Math"/>
                                              <a:ea typeface="Cambria Math"/>
                                            </a:rPr>
                                            <m:t>𝜃</m:t>
                                          </m:r>
                                        </m:num>
                                        <m:den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func>
                                  <m:r>
                                    <a:rPr lang="en-US" i="1">
                                      <a:latin typeface="Cambria Math"/>
                                    </a:rPr>
                                    <m:t>−</m:t>
                                  </m:r>
                                  <m:func>
                                    <m:func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1">
                                              <a:latin typeface="Cambria Math"/>
                                              <a:ea typeface="Cambria Math"/>
                                            </a:rPr>
                                            <m:t>𝜑</m:t>
                                          </m:r>
                                        </m:num>
                                        <m:den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func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𝑝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0" name="Rectangle 1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1246" y="5379496"/>
                <a:ext cx="3283135" cy="1027654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3511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Drop off behavior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355850" y="2692399"/>
            <a:ext cx="5099050" cy="34480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531941" y="1392000"/>
                <a:ext cx="3283135" cy="10276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𝑓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en-US" i="1">
                                          <a:latin typeface="Cambria Math"/>
                                          <a:ea typeface="Cambria Math"/>
                                        </a:rPr>
                                        <m:t>𝛼</m:t>
                                      </m:r>
                                    </m:e>
                                  </m:func>
                                  <m:r>
                                    <a:rPr lang="en-US" i="1">
                                      <a:latin typeface="Cambria Math"/>
                                    </a:rPr>
                                    <m:t>−</m:t>
                                  </m:r>
                                  <m:func>
                                    <m:func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1">
                                              <a:latin typeface="Cambria Math"/>
                                              <a:ea typeface="Cambria Math"/>
                                            </a:rPr>
                                            <m:t>𝜑</m:t>
                                          </m:r>
                                        </m:num>
                                        <m:den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func>
                                </m:num>
                                <m:den>
                                  <m:func>
                                    <m:func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1">
                                              <a:latin typeface="Cambria Math"/>
                                              <a:ea typeface="Cambria Math"/>
                                            </a:rPr>
                                            <m:t>𝜃</m:t>
                                          </m:r>
                                        </m:num>
                                        <m:den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func>
                                  <m:r>
                                    <a:rPr lang="en-US" i="1">
                                      <a:latin typeface="Cambria Math"/>
                                    </a:rPr>
                                    <m:t>−</m:t>
                                  </m:r>
                                  <m:func>
                                    <m:func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1">
                                              <a:latin typeface="Cambria Math"/>
                                              <a:ea typeface="Cambria Math"/>
                                            </a:rPr>
                                            <m:t>𝜑</m:t>
                                          </m:r>
                                        </m:num>
                                        <m:den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func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𝑝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1941" y="1392000"/>
                <a:ext cx="3283135" cy="102765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7589731" y="4398052"/>
            <a:ext cx="1268519" cy="7194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</a:rPr>
              <a:t>Drop off p=1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6400801" y="4757755"/>
            <a:ext cx="1282699" cy="568107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817010" y="3497818"/>
            <a:ext cx="7136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p=0.2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43972" y="3046968"/>
            <a:ext cx="7136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p=0.1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84822" y="5440918"/>
            <a:ext cx="6559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p=30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3967" y="5117457"/>
            <a:ext cx="6559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p=20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3422650" y="3682484"/>
            <a:ext cx="641351" cy="749083"/>
          </a:xfrm>
          <a:prstGeom prst="straightConnector1">
            <a:avLst/>
          </a:prstGeom>
          <a:ln w="85725">
            <a:solidFill>
              <a:schemeClr val="accent6">
                <a:lumMod val="75000"/>
              </a:schemeClr>
            </a:solidFill>
            <a:prstDash val="soli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3736975" y="2900918"/>
            <a:ext cx="488948" cy="603250"/>
          </a:xfrm>
          <a:prstGeom prst="straightConnector1">
            <a:avLst/>
          </a:prstGeom>
          <a:ln w="85725">
            <a:solidFill>
              <a:schemeClr val="accent6">
                <a:lumMod val="75000"/>
              </a:schemeClr>
            </a:solidFill>
            <a:prstDash val="solid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820126" y="3313152"/>
            <a:ext cx="5357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P&gt;1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77072" y="2177322"/>
            <a:ext cx="5357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P&lt;1</a:t>
            </a:r>
          </a:p>
        </p:txBody>
      </p:sp>
      <p:cxnSp>
        <p:nvCxnSpPr>
          <p:cNvPr id="19" name="Straight Arrow Connector 18"/>
          <p:cNvCxnSpPr>
            <a:stCxn id="18" idx="3"/>
          </p:cNvCxnSpPr>
          <p:nvPr/>
        </p:nvCxnSpPr>
        <p:spPr>
          <a:xfrm>
            <a:off x="3012796" y="2361988"/>
            <a:ext cx="1213127" cy="53893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2272841" y="3497818"/>
            <a:ext cx="1149809" cy="813832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8105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42200" y="6057900"/>
            <a:ext cx="1631950" cy="69056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hlinkClick r:id="rId2" action="ppaction://hlinkfile"/>
              </a:rPr>
              <a:t>scene</a:t>
            </a:r>
            <a:endParaRPr lang="en-US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545" y="2630187"/>
            <a:ext cx="5819775" cy="3648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224799" y="202444"/>
            <a:ext cx="2949994" cy="2367949"/>
            <a:chOff x="696386" y="3123304"/>
            <a:chExt cx="2949994" cy="2367949"/>
          </a:xfrm>
        </p:grpSpPr>
        <p:pic>
          <p:nvPicPr>
            <p:cNvPr id="6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6876" y="3379658"/>
              <a:ext cx="2899504" cy="21115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Rectangle 6"/>
            <p:cNvSpPr/>
            <p:nvPr/>
          </p:nvSpPr>
          <p:spPr>
            <a:xfrm>
              <a:off x="696386" y="3123304"/>
              <a:ext cx="2388642" cy="8001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chemeClr val="bg1"/>
                  </a:solidFill>
                </a:rPr>
                <a:t>No drop off</a:t>
              </a:r>
            </a:p>
          </p:txBody>
        </p:sp>
      </p:grp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5717" y="202444"/>
            <a:ext cx="2994806" cy="2223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0523" y="1898501"/>
            <a:ext cx="2100485" cy="3288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/>
        </p:nvSpPr>
        <p:spPr>
          <a:xfrm>
            <a:off x="695540" y="5631694"/>
            <a:ext cx="2388642" cy="800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Penumbra region</a:t>
            </a:r>
          </a:p>
        </p:txBody>
      </p:sp>
    </p:spTree>
    <p:extLst>
      <p:ext uri="{BB962C8B-B14F-4D97-AF65-F5344CB8AC3E}">
        <p14:creationId xmlns:p14="http://schemas.microsoft.com/office/powerpoint/2010/main" val="14396410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 Penumbra Region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6940" y="1871923"/>
                <a:ext cx="3715869" cy="4168728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For a visible position: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marL="342900" lvl="1" indent="-342900"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𝐿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i="1">
                        <a:latin typeface="Cambria Math"/>
                        <a:ea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𝑛𝑜𝑟𝑚𝑎𝑙𝑖𝑧𝑒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(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𝑃</m:t>
                        </m:r>
                      </m:e>
                      <m:sub>
                        <m:r>
                          <a:rPr lang="en-US" i="1" smtClean="0">
                            <a:latin typeface="Cambria Math"/>
                            <a:ea typeface="Cambria Math"/>
                          </a:rPr>
                          <m:t>𝐿</m:t>
                        </m:r>
                      </m:sub>
                    </m:sSub>
                    <m:r>
                      <a:rPr lang="en-US" i="1">
                        <a:latin typeface="Cambria Math"/>
                        <a:ea typeface="Cambria Math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/>
                            <a:ea typeface="Cambria Math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b="0" dirty="0">
                  <a:ea typeface="Cambria Math"/>
                </a:endParaRPr>
              </a:p>
              <a:p>
                <a:pPr marL="342900" lvl="1" indent="-342900">
                  <a:buFont typeface="Arial" pitchFamily="34" charset="0"/>
                  <a:buChar char="•"/>
                </a:pPr>
                <a:r>
                  <a:rPr lang="en-US" dirty="0" err="1">
                    <a:ea typeface="Cambria Math"/>
                  </a:rPr>
                  <a:t>c</a:t>
                </a:r>
                <a:r>
                  <a:rPr lang="en-US" b="0" dirty="0" err="1">
                    <a:ea typeface="Cambria Math"/>
                  </a:rPr>
                  <a:t>os</a:t>
                </a:r>
                <a:r>
                  <a:rPr lang="en-US" b="0" dirty="0">
                    <a:ea typeface="Cambria Math"/>
                  </a:rPr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  <a:ea typeface="Cambria Math"/>
                      </a:rPr>
                      <m:t>𝛼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)=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𝐿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  <a:ea typeface="Cambria Math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b="0" i="1" smtClean="0">
                        <a:latin typeface="Cambria Math"/>
                        <a:ea typeface="Cambria Math"/>
                      </a:rPr>
                      <m:t> ∙</m:t>
                    </m:r>
                    <m:acc>
                      <m:accPr>
                        <m:chr m:val="̂"/>
                        <m:ctrlPr>
                          <a:rPr lang="en-US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r>
                          <a:rPr lang="en-US" b="0" i="1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𝐿</m:t>
                        </m:r>
                      </m:e>
                    </m:acc>
                  </m:oMath>
                </a14:m>
                <a:endParaRPr lang="en-US" dirty="0">
                  <a:solidFill>
                    <a:schemeClr val="accent4">
                      <a:lumMod val="50000"/>
                    </a:schemeClr>
                  </a:solidFill>
                  <a:ea typeface="Cambria Math"/>
                </a:endParaRPr>
              </a:p>
              <a:p>
                <a:pPr marL="0" lvl="1" indent="0">
                  <a:buNone/>
                </a:pPr>
                <a:endParaRPr lang="en-US" dirty="0">
                  <a:solidFill>
                    <a:schemeClr val="accent4">
                      <a:lumMod val="50000"/>
                    </a:schemeClr>
                  </a:solidFill>
                  <a:ea typeface="Cambria Math"/>
                </a:endParaRPr>
              </a:p>
              <a:p>
                <a:pPr marL="0" lvl="1" indent="0">
                  <a:buNone/>
                </a:pPr>
                <a:r>
                  <a:rPr lang="en-US" dirty="0">
                    <a:ea typeface="Cambria Math"/>
                  </a:rPr>
                  <a:t>If (</a:t>
                </a:r>
                <a:r>
                  <a:rPr lang="en-US" dirty="0" err="1">
                    <a:ea typeface="Cambria Math"/>
                  </a:rPr>
                  <a:t>cos</a:t>
                </a:r>
                <a:r>
                  <a:rPr lang="en-US" dirty="0">
                    <a:ea typeface="Cambria Math"/>
                  </a:rPr>
                  <a:t>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𝛼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US" dirty="0">
                    <a:ea typeface="Cambria Math"/>
                  </a:rPr>
                  <a:t> &gt; </a:t>
                </a:r>
                <a:r>
                  <a:rPr lang="en-US" dirty="0" err="1">
                    <a:ea typeface="Cambria Math"/>
                  </a:rPr>
                  <a:t>cos</a:t>
                </a:r>
                <a:r>
                  <a:rPr lang="en-US" dirty="0">
                    <a:ea typeface="Cambria Math"/>
                  </a:rPr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  <a:ea typeface="Cambria Math"/>
                          </a:rPr>
                          <m:t>𝜃</m:t>
                        </m:r>
                      </m:num>
                      <m:den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/>
                        <a:ea typeface="Cambria Math"/>
                      </a:rPr>
                      <m:t>))</m:t>
                    </m:r>
                  </m:oMath>
                </a14:m>
                <a:r>
                  <a:rPr lang="en-US" dirty="0">
                    <a:ea typeface="Cambria Math"/>
                  </a:rPr>
                  <a:t>          //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𝛼</m:t>
                    </m:r>
                  </m:oMath>
                </a14:m>
                <a:r>
                  <a:rPr lang="en-US" dirty="0">
                    <a:ea typeface="Cambria Math"/>
                  </a:rPr>
                  <a:t> &lt;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𝜃</m:t>
                    </m:r>
                  </m:oMath>
                </a14:m>
                <a:endParaRPr lang="en-US" dirty="0">
                  <a:ea typeface="Cambria Math"/>
                </a:endParaRPr>
              </a:p>
              <a:p>
                <a:pPr marL="400050" lvl="2" indent="0">
                  <a:buNone/>
                </a:pPr>
                <a:r>
                  <a:rPr lang="en-US" dirty="0">
                    <a:ea typeface="Cambria Math"/>
                  </a:rPr>
                  <a:t>Full illumination</a:t>
                </a:r>
              </a:p>
              <a:p>
                <a:pPr marL="0" lvl="1" indent="0">
                  <a:buNone/>
                </a:pPr>
                <a:r>
                  <a:rPr lang="en-US" dirty="0">
                    <a:ea typeface="Cambria Math"/>
                  </a:rPr>
                  <a:t>else if (</a:t>
                </a:r>
                <a:r>
                  <a:rPr lang="en-US" dirty="0" err="1">
                    <a:ea typeface="Cambria Math"/>
                  </a:rPr>
                  <a:t>cos</a:t>
                </a:r>
                <a:r>
                  <a:rPr lang="en-US" dirty="0">
                    <a:ea typeface="Cambria Math"/>
                  </a:rPr>
                  <a:t>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𝛼</m:t>
                    </m:r>
                  </m:oMath>
                </a14:m>
                <a:r>
                  <a:rPr lang="en-US" dirty="0">
                    <a:ea typeface="Cambria Math"/>
                  </a:rPr>
                  <a:t>) &lt; </a:t>
                </a:r>
                <a:r>
                  <a:rPr lang="en-US" dirty="0" err="1">
                    <a:ea typeface="Cambria Math"/>
                  </a:rPr>
                  <a:t>cos</a:t>
                </a:r>
                <a:r>
                  <a:rPr lang="en-US" dirty="0">
                    <a:ea typeface="Cambria Math"/>
                  </a:rPr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/>
                            <a:ea typeface="Cambria Math"/>
                          </a:rPr>
                          <m:t>𝜑</m:t>
                        </m:r>
                      </m:num>
                      <m:den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>
                    <a:ea typeface="Cambria Math"/>
                  </a:rPr>
                  <a:t>))   //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𝛼</m:t>
                    </m:r>
                  </m:oMath>
                </a14:m>
                <a:r>
                  <a:rPr lang="en-US" dirty="0">
                    <a:ea typeface="Cambria Math"/>
                  </a:rPr>
                  <a:t> &gt;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𝜑</m:t>
                    </m:r>
                  </m:oMath>
                </a14:m>
                <a:endParaRPr lang="en-US" dirty="0">
                  <a:ea typeface="Cambria Math"/>
                </a:endParaRPr>
              </a:p>
              <a:p>
                <a:pPr marL="0" lvl="1" indent="0">
                  <a:buNone/>
                </a:pPr>
                <a:r>
                  <a:rPr lang="en-US" dirty="0">
                    <a:ea typeface="Cambria Math"/>
                  </a:rPr>
                  <a:t>         no illumination</a:t>
                </a:r>
              </a:p>
              <a:p>
                <a:pPr marL="0" lvl="1" indent="0">
                  <a:buNone/>
                </a:pPr>
                <a:r>
                  <a:rPr lang="en-US" dirty="0">
                    <a:ea typeface="Cambria Math"/>
                  </a:rPr>
                  <a:t>else</a:t>
                </a:r>
              </a:p>
              <a:p>
                <a:pPr marL="0" lvl="1" indent="0">
                  <a:buNone/>
                </a:pPr>
                <a:r>
                  <a:rPr lang="en-US" dirty="0">
                    <a:ea typeface="Cambria Math"/>
                  </a:rPr>
                  <a:t>         Penumbra region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6940" y="1871923"/>
                <a:ext cx="3715869" cy="4168728"/>
              </a:xfrm>
              <a:blipFill rotWithShape="1">
                <a:blip r:embed="rId2"/>
                <a:stretch>
                  <a:fillRect l="-1803" t="-2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0" name="Group 69"/>
          <p:cNvGrpSpPr/>
          <p:nvPr/>
        </p:nvGrpSpPr>
        <p:grpSpPr>
          <a:xfrm>
            <a:off x="3716243" y="1391270"/>
            <a:ext cx="5671964" cy="3721174"/>
            <a:chOff x="3709893" y="1727543"/>
            <a:chExt cx="5671964" cy="3721174"/>
          </a:xfrm>
        </p:grpSpPr>
        <p:sp>
          <p:nvSpPr>
            <p:cNvPr id="39" name="Trapezoid 38"/>
            <p:cNvSpPr/>
            <p:nvPr/>
          </p:nvSpPr>
          <p:spPr>
            <a:xfrm>
              <a:off x="4270069" y="3117561"/>
              <a:ext cx="4640084" cy="2331156"/>
            </a:xfrm>
            <a:prstGeom prst="trapezoid">
              <a:avLst>
                <a:gd name="adj" fmla="val 56308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/>
            <p:cNvSpPr/>
            <p:nvPr/>
          </p:nvSpPr>
          <p:spPr>
            <a:xfrm>
              <a:off x="5196286" y="3117561"/>
              <a:ext cx="2872226" cy="228565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36000">
                  <a:srgbClr val="D9D9D9"/>
                </a:gs>
                <a:gs pos="61000">
                  <a:schemeClr val="bg1">
                    <a:lumMod val="6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Isosceles Triangle 40"/>
            <p:cNvSpPr/>
            <p:nvPr/>
          </p:nvSpPr>
          <p:spPr>
            <a:xfrm rot="18557723">
              <a:off x="4340765" y="2156210"/>
              <a:ext cx="859699" cy="1061354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317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4071559" y="2656169"/>
              <a:ext cx="223602" cy="34217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l-GR" b="1" dirty="0">
                  <a:solidFill>
                    <a:srgbClr val="00FF00"/>
                  </a:solidFill>
                  <a:latin typeface="Cambria Math"/>
                  <a:ea typeface="Cambria Math"/>
                </a:rPr>
                <a:t>θ</a:t>
              </a:r>
              <a:endParaRPr lang="en-US" b="1" dirty="0">
                <a:solidFill>
                  <a:srgbClr val="00FF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Rectangle 42"/>
                <p:cNvSpPr/>
                <p:nvPr/>
              </p:nvSpPr>
              <p:spPr>
                <a:xfrm>
                  <a:off x="3975545" y="2987166"/>
                  <a:ext cx="294524" cy="355488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l-GR" b="1" i="1" dirty="0" smtClean="0">
                            <a:solidFill>
                              <a:srgbClr val="0000FF"/>
                            </a:solidFill>
                            <a:latin typeface="Cambria Math"/>
                            <a:ea typeface="Cambria Math"/>
                          </a:rPr>
                          <m:t>𝝋</m:t>
                        </m:r>
                      </m:oMath>
                    </m:oMathPara>
                  </a14:m>
                  <a:endParaRPr lang="en-US" b="1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Rectangle 4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5545" y="2987166"/>
                  <a:ext cx="294524" cy="355488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r="-20408" b="-862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Straight Arrow Connector 43"/>
            <p:cNvCxnSpPr>
              <a:stCxn id="42" idx="3"/>
            </p:cNvCxnSpPr>
            <p:nvPr/>
          </p:nvCxnSpPr>
          <p:spPr>
            <a:xfrm>
              <a:off x="4295161" y="2827255"/>
              <a:ext cx="931992" cy="290306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dash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stCxn id="41" idx="0"/>
            </p:cNvCxnSpPr>
            <p:nvPr/>
          </p:nvCxnSpPr>
          <p:spPr>
            <a:xfrm>
              <a:off x="4359929" y="2350799"/>
              <a:ext cx="2142327" cy="1768528"/>
            </a:xfrm>
            <a:prstGeom prst="straightConnector1">
              <a:avLst/>
            </a:prstGeom>
            <a:ln w="44450">
              <a:solidFill>
                <a:schemeClr val="accent4">
                  <a:lumMod val="75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>
              <a:stCxn id="41" idx="0"/>
            </p:cNvCxnSpPr>
            <p:nvPr/>
          </p:nvCxnSpPr>
          <p:spPr>
            <a:xfrm>
              <a:off x="4359929" y="2350799"/>
              <a:ext cx="1889886" cy="2384847"/>
            </a:xfrm>
            <a:prstGeom prst="straightConnector1">
              <a:avLst/>
            </a:prstGeom>
            <a:ln w="22225">
              <a:solidFill>
                <a:schemeClr val="accent3">
                  <a:lumMod val="75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>
              <a:off x="4359929" y="2350799"/>
              <a:ext cx="2938921" cy="878274"/>
            </a:xfrm>
            <a:prstGeom prst="straightConnector1">
              <a:avLst/>
            </a:prstGeom>
            <a:ln w="19050">
              <a:solidFill>
                <a:schemeClr val="tx2">
                  <a:lumMod val="60000"/>
                  <a:lumOff val="40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>
              <a:stCxn id="41" idx="0"/>
            </p:cNvCxnSpPr>
            <p:nvPr/>
          </p:nvCxnSpPr>
          <p:spPr>
            <a:xfrm>
              <a:off x="4359929" y="2350799"/>
              <a:ext cx="1603785" cy="2923389"/>
            </a:xfrm>
            <a:prstGeom prst="straightConnector1">
              <a:avLst/>
            </a:prstGeom>
            <a:ln w="19050">
              <a:solidFill>
                <a:schemeClr val="tx2">
                  <a:lumMod val="60000"/>
                  <a:lumOff val="40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>
              <a:stCxn id="41" idx="0"/>
            </p:cNvCxnSpPr>
            <p:nvPr/>
          </p:nvCxnSpPr>
          <p:spPr>
            <a:xfrm>
              <a:off x="4359929" y="2350799"/>
              <a:ext cx="2680870" cy="1307762"/>
            </a:xfrm>
            <a:prstGeom prst="straightConnector1">
              <a:avLst/>
            </a:prstGeom>
            <a:ln w="22225">
              <a:solidFill>
                <a:schemeClr val="accent3">
                  <a:lumMod val="75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/>
            <p:nvPr/>
          </p:nvCxnSpPr>
          <p:spPr>
            <a:xfrm>
              <a:off x="4218821" y="3229073"/>
              <a:ext cx="1345329" cy="245643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dash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1" name="Group 50"/>
            <p:cNvGrpSpPr/>
            <p:nvPr/>
          </p:nvGrpSpPr>
          <p:grpSpPr>
            <a:xfrm>
              <a:off x="3923850" y="3383940"/>
              <a:ext cx="2249453" cy="491013"/>
              <a:chOff x="3059147" y="3460765"/>
              <a:chExt cx="2249453" cy="49101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Rectangle 67"/>
                  <p:cNvSpPr/>
                  <p:nvPr/>
                </p:nvSpPr>
                <p:spPr>
                  <a:xfrm>
                    <a:off x="3059147" y="3460765"/>
                    <a:ext cx="397019" cy="376770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/>
                              <a:ea typeface="Cambria Math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en-US" b="1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accPr>
                            <m:e>
                              <m:r>
                                <a:rPr lang="en-US" b="1" i="1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/>
                                  <a:ea typeface="Cambria Math"/>
                                </a:rPr>
                                <m:t>𝑳</m:t>
                              </m:r>
                            </m:e>
                          </m:acc>
                        </m:oMath>
                      </m:oMathPara>
                    </a14:m>
                    <a:endParaRPr lang="en-US" b="1" dirty="0">
                      <a:solidFill>
                        <a:schemeClr val="accent4">
                          <a:lumMod val="7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8" name="Rectangle 6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59147" y="3460765"/>
                    <a:ext cx="397019" cy="376770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1613" r="-4153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9" name="Straight Arrow Connector 68"/>
              <p:cNvCxnSpPr>
                <a:stCxn id="68" idx="3"/>
              </p:cNvCxnSpPr>
              <p:nvPr/>
            </p:nvCxnSpPr>
            <p:spPr>
              <a:xfrm>
                <a:off x="3456166" y="3649150"/>
                <a:ext cx="1852434" cy="302628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prstDash val="dash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Smiley Face 51"/>
            <p:cNvSpPr/>
            <p:nvPr/>
          </p:nvSpPr>
          <p:spPr>
            <a:xfrm rot="234836">
              <a:off x="7823179" y="2271694"/>
              <a:ext cx="572202" cy="579799"/>
            </a:xfrm>
            <a:prstGeom prst="smileyFace">
              <a:avLst>
                <a:gd name="adj" fmla="val 4653"/>
              </a:avLst>
            </a:prstGeom>
            <a:scene3d>
              <a:camera prst="isometricOffAxis1Left">
                <a:rot lat="1658128" lon="4014475" rev="967910"/>
              </a:camera>
              <a:lightRig rig="threePt" dir="t"/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Straight Arrow Connector 52"/>
            <p:cNvCxnSpPr/>
            <p:nvPr/>
          </p:nvCxnSpPr>
          <p:spPr>
            <a:xfrm flipV="1">
              <a:off x="6941653" y="2656169"/>
              <a:ext cx="1067057" cy="1281247"/>
            </a:xfrm>
            <a:prstGeom prst="straightConnector1">
              <a:avLst/>
            </a:prstGeom>
            <a:ln w="41275" cmpd="sng">
              <a:solidFill>
                <a:schemeClr val="accent3">
                  <a:lumMod val="60000"/>
                  <a:lumOff val="40000"/>
                  <a:alpha val="67000"/>
                </a:schemeClr>
              </a:solidFill>
              <a:prstDash val="solid"/>
              <a:headEnd type="none"/>
              <a:tailEnd type="triangle"/>
            </a:ln>
            <a:effectLst>
              <a:softEdge rad="12700"/>
            </a:effectLst>
            <a:scene3d>
              <a:camera prst="orthographicFront"/>
              <a:lightRig rig="soft" dir="t"/>
            </a:scene3d>
            <a:sp3d prstMaterial="softEdge">
              <a:bevelT w="158750" h="254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stCxn id="41" idx="0"/>
            </p:cNvCxnSpPr>
            <p:nvPr/>
          </p:nvCxnSpPr>
          <p:spPr>
            <a:xfrm>
              <a:off x="4359929" y="2350799"/>
              <a:ext cx="2581724" cy="1586617"/>
            </a:xfrm>
            <a:prstGeom prst="straightConnector1">
              <a:avLst/>
            </a:prstGeom>
            <a:ln w="25400">
              <a:solidFill>
                <a:schemeClr val="accent4">
                  <a:lumMod val="75000"/>
                  <a:alpha val="63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Arc 54"/>
            <p:cNvSpPr/>
            <p:nvPr/>
          </p:nvSpPr>
          <p:spPr>
            <a:xfrm rot="5030679">
              <a:off x="4428593" y="2371616"/>
              <a:ext cx="960120" cy="958050"/>
            </a:xfrm>
            <a:prstGeom prst="arc">
              <a:avLst>
                <a:gd name="adj1" fmla="val 16579259"/>
                <a:gd name="adj2" fmla="val 20525152"/>
              </a:avLst>
            </a:prstGeom>
            <a:ln w="69850">
              <a:solidFill>
                <a:srgbClr val="00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Arc 55"/>
            <p:cNvSpPr/>
            <p:nvPr/>
          </p:nvSpPr>
          <p:spPr>
            <a:xfrm rot="5030679">
              <a:off x="5483622" y="3062088"/>
              <a:ext cx="617629" cy="597354"/>
            </a:xfrm>
            <a:prstGeom prst="arc">
              <a:avLst>
                <a:gd name="adj1" fmla="val 17065478"/>
                <a:gd name="adj2" fmla="val 20525152"/>
              </a:avLst>
            </a:prstGeom>
            <a:ln w="69850"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Rectangle 56"/>
                <p:cNvSpPr/>
                <p:nvPr/>
              </p:nvSpPr>
              <p:spPr>
                <a:xfrm>
                  <a:off x="5564150" y="1727543"/>
                  <a:ext cx="397019" cy="37677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𝛂</m:t>
                        </m:r>
                      </m:oMath>
                    </m:oMathPara>
                  </a14:m>
                  <a:endParaRPr lang="en-US" b="1" dirty="0">
                    <a:solidFill>
                      <a:schemeClr val="accent4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7" name="Rectangle 5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64150" y="1727543"/>
                  <a:ext cx="397019" cy="376770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Rectangle 57"/>
                <p:cNvSpPr/>
                <p:nvPr/>
              </p:nvSpPr>
              <p:spPr>
                <a:xfrm>
                  <a:off x="4071559" y="1764461"/>
                  <a:ext cx="777895" cy="74120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8" name="Rectangle 5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71559" y="1764461"/>
                  <a:ext cx="777895" cy="741206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l="-234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Rectangle 58"/>
                <p:cNvSpPr/>
                <p:nvPr/>
              </p:nvSpPr>
              <p:spPr>
                <a:xfrm>
                  <a:off x="8050551" y="3346880"/>
                  <a:ext cx="1331306" cy="61593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1600" dirty="0">
                      <a:solidFill>
                        <a:schemeClr val="tx1"/>
                      </a:solidFill>
                    </a:rPr>
                    <a:t>A visible</a:t>
                  </a:r>
                  <a:br>
                    <a:rPr lang="en-US" sz="1600" dirty="0">
                      <a:solidFill>
                        <a:schemeClr val="tx1"/>
                      </a:solidFill>
                    </a:rPr>
                  </a:br>
                  <a:r>
                    <a:rPr lang="en-US" sz="1600" dirty="0">
                      <a:solidFill>
                        <a:schemeClr val="tx1"/>
                      </a:solidFill>
                    </a:rPr>
                    <a:t>position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sz="16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9" name="Rectangle 5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50551" y="3346880"/>
                  <a:ext cx="1331306" cy="615935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2752" b="-990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0" name="Straight Arrow Connector 59"/>
            <p:cNvCxnSpPr/>
            <p:nvPr/>
          </p:nvCxnSpPr>
          <p:spPr>
            <a:xfrm flipH="1">
              <a:off x="6992453" y="3661180"/>
              <a:ext cx="1076060" cy="276236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dash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>
              <a:stCxn id="57" idx="2"/>
            </p:cNvCxnSpPr>
            <p:nvPr/>
          </p:nvCxnSpPr>
          <p:spPr>
            <a:xfrm>
              <a:off x="5762660" y="2104313"/>
              <a:ext cx="251893" cy="1438909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dash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Arc 37"/>
            <p:cNvSpPr>
              <a:spLocks noChangeAspect="1"/>
            </p:cNvSpPr>
            <p:nvPr/>
          </p:nvSpPr>
          <p:spPr>
            <a:xfrm rot="5000905">
              <a:off x="3707585" y="1783357"/>
              <a:ext cx="2139183" cy="2134568"/>
            </a:xfrm>
            <a:prstGeom prst="arc">
              <a:avLst>
                <a:gd name="adj1" fmla="val 16396294"/>
                <a:gd name="adj2" fmla="val 20724505"/>
              </a:avLst>
            </a:prstGeom>
            <a:ln w="698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59578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Attenuation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74816" y="1485900"/>
                <a:ext cx="8229600" cy="4525963"/>
              </a:xfrm>
            </p:spPr>
            <p:txBody>
              <a:bodyPr/>
              <a:lstStyle/>
              <a:p>
                <a:r>
                  <a:rPr lang="en-US" dirty="0"/>
                  <a:t>Illumination is a function of </a:t>
                </a:r>
              </a:p>
              <a:p>
                <a:pPr lvl="2"/>
                <a:r>
                  <a:rPr lang="en-US" dirty="0"/>
                  <a:t>d = distance between light </a:t>
                </a:r>
                <a:br>
                  <a:rPr lang="en-US" dirty="0"/>
                </a:br>
                <a:r>
                  <a:rPr lang="en-US" dirty="0"/>
                  <a:t>       and visible position!!</a:t>
                </a:r>
              </a:p>
              <a:p>
                <a:r>
                  <a:rPr lang="en-US" dirty="0"/>
                  <a:t>Physics tells us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𝐼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∝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𝑑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Rest of the model: Did not follow physics!</a:t>
                </a:r>
              </a:p>
              <a:p>
                <a:pPr lvl="1"/>
                <a:r>
                  <a:rPr lang="en-US" dirty="0"/>
                  <a:t>WAY too dark!!</a:t>
                </a:r>
              </a:p>
              <a:p>
                <a:r>
                  <a:rPr lang="en-US" dirty="0"/>
                  <a:t>Generally: 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4816" y="1485900"/>
                <a:ext cx="8229600" cy="4525963"/>
              </a:xfrm>
              <a:blipFill>
                <a:blip r:embed="rId2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/>
          <p:cNvGrpSpPr/>
          <p:nvPr/>
        </p:nvGrpSpPr>
        <p:grpSpPr>
          <a:xfrm>
            <a:off x="5733675" y="1296092"/>
            <a:ext cx="3038422" cy="2216078"/>
            <a:chOff x="5546287" y="3343683"/>
            <a:chExt cx="3038422" cy="2216078"/>
          </a:xfrm>
        </p:grpSpPr>
        <p:sp>
          <p:nvSpPr>
            <p:cNvPr id="5" name="Trapezoid 4"/>
            <p:cNvSpPr/>
            <p:nvPr/>
          </p:nvSpPr>
          <p:spPr>
            <a:xfrm>
              <a:off x="5775086" y="4959511"/>
              <a:ext cx="2087116" cy="600250"/>
            </a:xfrm>
            <a:prstGeom prst="trapezoid">
              <a:avLst>
                <a:gd name="adj" fmla="val 5630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Sun 6"/>
            <p:cNvSpPr/>
            <p:nvPr/>
          </p:nvSpPr>
          <p:spPr>
            <a:xfrm rot="19891773">
              <a:off x="7809660" y="3343683"/>
              <a:ext cx="387078" cy="364638"/>
            </a:xfrm>
            <a:prstGeom prst="sun">
              <a:avLst>
                <a:gd name="adj" fmla="val 20252"/>
              </a:avLst>
            </a:prstGeom>
            <a:solidFill>
              <a:srgbClr val="FFFF00"/>
            </a:solidFill>
            <a:ln>
              <a:solidFill>
                <a:schemeClr val="accent6">
                  <a:lumMod val="75000"/>
                </a:schemeClr>
              </a:solidFill>
            </a:ln>
            <a:scene3d>
              <a:camera prst="isometricOffAxis1Left"/>
              <a:lightRig rig="threePt" dir="t"/>
            </a:scene3d>
            <a:sp3d>
              <a:bevelT w="133350" h="1079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Arrow Connector 7"/>
            <p:cNvCxnSpPr/>
            <p:nvPr/>
          </p:nvCxnSpPr>
          <p:spPr>
            <a:xfrm flipH="1">
              <a:off x="7121652" y="3580266"/>
              <a:ext cx="881548" cy="1610018"/>
            </a:xfrm>
            <a:prstGeom prst="straightConnector1">
              <a:avLst/>
            </a:prstGeom>
            <a:ln w="76200" cmpd="sng">
              <a:solidFill>
                <a:schemeClr val="accent4">
                  <a:lumMod val="60000"/>
                  <a:lumOff val="40000"/>
                </a:schemeClr>
              </a:solidFill>
              <a:prstDash val="solid"/>
              <a:headEnd type="triangle"/>
              <a:tailEnd type="none"/>
            </a:ln>
            <a:effectLst>
              <a:softEdge rad="12700"/>
            </a:effectLst>
            <a:scene3d>
              <a:camera prst="orthographicFront"/>
              <a:lightRig rig="threePt" dir="t">
                <a:rot lat="0" lon="0" rev="600000"/>
              </a:lightRig>
            </a:scene3d>
            <a:sp3d prstMaterial="dkEdge">
              <a:bevelT w="158750" h="254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Smiley Face 8"/>
            <p:cNvSpPr/>
            <p:nvPr/>
          </p:nvSpPr>
          <p:spPr>
            <a:xfrm rot="1357203">
              <a:off x="5546287" y="4102035"/>
              <a:ext cx="572202" cy="579799"/>
            </a:xfrm>
            <a:prstGeom prst="smileyFace">
              <a:avLst>
                <a:gd name="adj" fmla="val 4653"/>
              </a:avLst>
            </a:prstGeom>
            <a:scene3d>
              <a:camera prst="isometricOffAxis2Right"/>
              <a:lightRig rig="threePt" dir="t"/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 flipH="1" flipV="1">
              <a:off x="5905500" y="4531130"/>
              <a:ext cx="1227679" cy="659155"/>
            </a:xfrm>
            <a:prstGeom prst="straightConnector1">
              <a:avLst/>
            </a:prstGeom>
            <a:ln w="76200" cmpd="sng">
              <a:solidFill>
                <a:schemeClr val="accent3">
                  <a:lumMod val="60000"/>
                  <a:lumOff val="40000"/>
                </a:schemeClr>
              </a:solidFill>
              <a:prstDash val="solid"/>
              <a:headEnd type="none"/>
              <a:tailEnd type="triangle"/>
            </a:ln>
            <a:effectLst>
              <a:softEdge rad="12700"/>
            </a:effectLst>
            <a:scene3d>
              <a:camera prst="orthographicFront"/>
              <a:lightRig rig="soft" dir="t"/>
            </a:scene3d>
            <a:sp3d prstMaterial="softEdge">
              <a:bevelT w="158750" h="254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 flipH="1" flipV="1">
              <a:off x="7956522" y="3592558"/>
              <a:ext cx="628187" cy="370182"/>
            </a:xfrm>
            <a:prstGeom prst="straightConnector1">
              <a:avLst/>
            </a:prstGeom>
            <a:ln w="25400">
              <a:solidFill>
                <a:srgbClr val="FF0000"/>
              </a:solidFill>
              <a:prstDash val="dashDot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flipH="1">
              <a:off x="7499350" y="3778533"/>
              <a:ext cx="771265" cy="1596137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sysDot"/>
              <a:headEnd type="arrow"/>
              <a:tailEnd type="arrow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H="1" flipV="1">
              <a:off x="7117966" y="5189579"/>
              <a:ext cx="628187" cy="370182"/>
            </a:xfrm>
            <a:prstGeom prst="straightConnector1">
              <a:avLst/>
            </a:prstGeom>
            <a:ln w="25400">
              <a:solidFill>
                <a:srgbClr val="FF0000"/>
              </a:solidFill>
              <a:prstDash val="dashDot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4"/>
            <p:cNvSpPr/>
            <p:nvPr/>
          </p:nvSpPr>
          <p:spPr>
            <a:xfrm>
              <a:off x="7956522" y="4391935"/>
              <a:ext cx="3064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lvl="1" indent="0">
                <a:buNone/>
              </a:pPr>
              <a:r>
                <a:rPr lang="en-US" dirty="0">
                  <a:ea typeface="Cambria Math"/>
                </a:rPr>
                <a:t>d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825750" y="5295900"/>
                <a:ext cx="3018647" cy="6699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𝐼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0</m:t>
                              </m:r>
                            </m:sub>
                            <m:sup/>
                          </m:sSubSup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  <m:sup/>
                          </m:sSub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/>
                                      <a:ea typeface="Cambria Math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</m:sub>
                                <m:sup/>
                              </m:sSubSup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sub>
                            <m:sup/>
                          </m:sSub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5750" y="5295900"/>
                <a:ext cx="3018647" cy="669927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3418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4393E-E96F-9AC3-E5A3-71A22545E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Distance Attenuation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D43FC-078F-7E26-17AF-429975F2F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Define a Near/Far</a:t>
            </a:r>
          </a:p>
          <a:p>
            <a:pPr lvl="1"/>
            <a:r>
              <a:rPr lang="en-US" dirty="0"/>
              <a:t>That light can illuminate</a:t>
            </a:r>
          </a:p>
          <a:p>
            <a:r>
              <a:rPr lang="en-US" dirty="0"/>
              <a:t>Distance to visible point (</a:t>
            </a:r>
            <a:r>
              <a:rPr lang="en-US" dirty="0" err="1"/>
              <a:t>dist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sz="2400" dirty="0"/>
              <a:t>             If (</a:t>
            </a:r>
            <a:r>
              <a:rPr lang="en-US" sz="2400" dirty="0" err="1"/>
              <a:t>dist</a:t>
            </a:r>
            <a:r>
              <a:rPr lang="en-US" sz="2400" dirty="0"/>
              <a:t> &gt; far)   // too far</a:t>
            </a:r>
          </a:p>
          <a:p>
            <a:pPr marL="0" indent="0">
              <a:buNone/>
            </a:pPr>
            <a:r>
              <a:rPr lang="en-US" sz="2400" dirty="0"/>
              <a:t>                No illumination </a:t>
            </a:r>
          </a:p>
          <a:p>
            <a:pPr marL="457200" lvl="1" indent="0">
              <a:buNone/>
            </a:pPr>
            <a:r>
              <a:rPr lang="en-US" sz="2400" dirty="0"/>
              <a:t>      else If (</a:t>
            </a:r>
            <a:r>
              <a:rPr lang="en-US" sz="2400" dirty="0" err="1"/>
              <a:t>dist</a:t>
            </a:r>
            <a:r>
              <a:rPr lang="en-US" sz="2400" dirty="0"/>
              <a:t> &lt; near)  // very close</a:t>
            </a:r>
          </a:p>
          <a:p>
            <a:pPr marL="914400" lvl="2" indent="0">
              <a:buNone/>
            </a:pPr>
            <a:r>
              <a:rPr lang="en-US" dirty="0"/>
              <a:t>   Full light strength</a:t>
            </a:r>
          </a:p>
          <a:p>
            <a:pPr marL="914400" lvl="2" indent="0">
              <a:buNone/>
            </a:pPr>
            <a:r>
              <a:rPr lang="en-US" dirty="0"/>
              <a:t>else   // between near and far</a:t>
            </a:r>
          </a:p>
          <a:p>
            <a:pPr marL="914400" lvl="2" indent="0">
              <a:buNone/>
            </a:pPr>
            <a:r>
              <a:rPr lang="en-US" dirty="0"/>
              <a:t>    Some form of gradual degradation …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4E2042D-00DA-15D2-7C66-A5119315B96C}"/>
              </a:ext>
            </a:extLst>
          </p:cNvPr>
          <p:cNvGrpSpPr/>
          <p:nvPr/>
        </p:nvGrpSpPr>
        <p:grpSpPr>
          <a:xfrm>
            <a:off x="5733675" y="1477067"/>
            <a:ext cx="3038422" cy="2216078"/>
            <a:chOff x="5546287" y="3343683"/>
            <a:chExt cx="3038422" cy="2216078"/>
          </a:xfrm>
        </p:grpSpPr>
        <p:sp>
          <p:nvSpPr>
            <p:cNvPr id="5" name="Trapezoid 4">
              <a:extLst>
                <a:ext uri="{FF2B5EF4-FFF2-40B4-BE49-F238E27FC236}">
                  <a16:creationId xmlns:a16="http://schemas.microsoft.com/office/drawing/2014/main" id="{E7034013-EE9D-7628-621A-F9D195F54E8C}"/>
                </a:ext>
              </a:extLst>
            </p:cNvPr>
            <p:cNvSpPr/>
            <p:nvPr/>
          </p:nvSpPr>
          <p:spPr>
            <a:xfrm>
              <a:off x="5775086" y="4959511"/>
              <a:ext cx="2087116" cy="600250"/>
            </a:xfrm>
            <a:prstGeom prst="trapezoid">
              <a:avLst>
                <a:gd name="adj" fmla="val 5630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Sun 5">
              <a:extLst>
                <a:ext uri="{FF2B5EF4-FFF2-40B4-BE49-F238E27FC236}">
                  <a16:creationId xmlns:a16="http://schemas.microsoft.com/office/drawing/2014/main" id="{8A378B75-A909-7719-4994-870EC6ADF524}"/>
                </a:ext>
              </a:extLst>
            </p:cNvPr>
            <p:cNvSpPr/>
            <p:nvPr/>
          </p:nvSpPr>
          <p:spPr>
            <a:xfrm rot="19891773">
              <a:off x="7809660" y="3343683"/>
              <a:ext cx="387078" cy="364638"/>
            </a:xfrm>
            <a:prstGeom prst="sun">
              <a:avLst>
                <a:gd name="adj" fmla="val 20252"/>
              </a:avLst>
            </a:prstGeom>
            <a:solidFill>
              <a:srgbClr val="FFFF00"/>
            </a:solidFill>
            <a:ln>
              <a:solidFill>
                <a:schemeClr val="accent6">
                  <a:lumMod val="75000"/>
                </a:schemeClr>
              </a:solidFill>
            </a:ln>
            <a:scene3d>
              <a:camera prst="isometricOffAxis1Left"/>
              <a:lightRig rig="threePt" dir="t"/>
            </a:scene3d>
            <a:sp3d>
              <a:bevelT w="133350" h="1079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F996C74B-8F90-3D47-7E67-DA5D0DAAF07A}"/>
                </a:ext>
              </a:extLst>
            </p:cNvPr>
            <p:cNvCxnSpPr/>
            <p:nvPr/>
          </p:nvCxnSpPr>
          <p:spPr>
            <a:xfrm flipH="1">
              <a:off x="7121652" y="3580266"/>
              <a:ext cx="881548" cy="1610018"/>
            </a:xfrm>
            <a:prstGeom prst="straightConnector1">
              <a:avLst/>
            </a:prstGeom>
            <a:ln w="76200" cmpd="sng">
              <a:solidFill>
                <a:schemeClr val="accent4">
                  <a:lumMod val="60000"/>
                  <a:lumOff val="40000"/>
                </a:schemeClr>
              </a:solidFill>
              <a:prstDash val="solid"/>
              <a:headEnd type="triangle"/>
              <a:tailEnd type="none"/>
            </a:ln>
            <a:effectLst>
              <a:softEdge rad="12700"/>
            </a:effectLst>
            <a:scene3d>
              <a:camera prst="orthographicFront"/>
              <a:lightRig rig="threePt" dir="t">
                <a:rot lat="0" lon="0" rev="600000"/>
              </a:lightRig>
            </a:scene3d>
            <a:sp3d prstMaterial="dkEdge">
              <a:bevelT w="158750" h="254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Smiley Face 7">
              <a:extLst>
                <a:ext uri="{FF2B5EF4-FFF2-40B4-BE49-F238E27FC236}">
                  <a16:creationId xmlns:a16="http://schemas.microsoft.com/office/drawing/2014/main" id="{03E898FC-7B9A-3F39-A1B1-9C4154F58C2E}"/>
                </a:ext>
              </a:extLst>
            </p:cNvPr>
            <p:cNvSpPr/>
            <p:nvPr/>
          </p:nvSpPr>
          <p:spPr>
            <a:xfrm rot="1357203">
              <a:off x="5546287" y="4102035"/>
              <a:ext cx="572202" cy="579799"/>
            </a:xfrm>
            <a:prstGeom prst="smileyFace">
              <a:avLst>
                <a:gd name="adj" fmla="val 4653"/>
              </a:avLst>
            </a:prstGeom>
            <a:scene3d>
              <a:camera prst="isometricOffAxis2Right"/>
              <a:lightRig rig="threePt" dir="t"/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F268EFF6-10FE-74BA-E4B8-A8BEEDF866B0}"/>
                </a:ext>
              </a:extLst>
            </p:cNvPr>
            <p:cNvCxnSpPr/>
            <p:nvPr/>
          </p:nvCxnSpPr>
          <p:spPr>
            <a:xfrm flipH="1" flipV="1">
              <a:off x="5905500" y="4531130"/>
              <a:ext cx="1227679" cy="659155"/>
            </a:xfrm>
            <a:prstGeom prst="straightConnector1">
              <a:avLst/>
            </a:prstGeom>
            <a:ln w="76200" cmpd="sng">
              <a:solidFill>
                <a:schemeClr val="accent3">
                  <a:lumMod val="60000"/>
                  <a:lumOff val="40000"/>
                </a:schemeClr>
              </a:solidFill>
              <a:prstDash val="solid"/>
              <a:headEnd type="none"/>
              <a:tailEnd type="triangle"/>
            </a:ln>
            <a:effectLst>
              <a:softEdge rad="12700"/>
            </a:effectLst>
            <a:scene3d>
              <a:camera prst="orthographicFront"/>
              <a:lightRig rig="soft" dir="t"/>
            </a:scene3d>
            <a:sp3d prstMaterial="softEdge">
              <a:bevelT w="158750" h="25400"/>
            </a:sp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BB2F31D-9493-22C7-96AB-F9F193E8A4CF}"/>
                </a:ext>
              </a:extLst>
            </p:cNvPr>
            <p:cNvCxnSpPr/>
            <p:nvPr/>
          </p:nvCxnSpPr>
          <p:spPr>
            <a:xfrm flipH="1" flipV="1">
              <a:off x="7956522" y="3592558"/>
              <a:ext cx="628187" cy="370182"/>
            </a:xfrm>
            <a:prstGeom prst="straightConnector1">
              <a:avLst/>
            </a:prstGeom>
            <a:ln w="25400">
              <a:solidFill>
                <a:srgbClr val="FF0000"/>
              </a:solidFill>
              <a:prstDash val="dashDot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0B90DCC-D2D7-8AE7-CE94-FB4C1B96BCC8}"/>
                </a:ext>
              </a:extLst>
            </p:cNvPr>
            <p:cNvCxnSpPr/>
            <p:nvPr/>
          </p:nvCxnSpPr>
          <p:spPr>
            <a:xfrm flipH="1">
              <a:off x="7499350" y="3778533"/>
              <a:ext cx="771265" cy="1596137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sysDot"/>
              <a:headEnd type="arrow"/>
              <a:tailEnd type="arrow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05E784F-CEC1-93A6-0F05-89936FB7BCD6}"/>
                </a:ext>
              </a:extLst>
            </p:cNvPr>
            <p:cNvCxnSpPr/>
            <p:nvPr/>
          </p:nvCxnSpPr>
          <p:spPr>
            <a:xfrm flipH="1" flipV="1">
              <a:off x="7117966" y="5189579"/>
              <a:ext cx="628187" cy="370182"/>
            </a:xfrm>
            <a:prstGeom prst="straightConnector1">
              <a:avLst/>
            </a:prstGeom>
            <a:ln w="25400">
              <a:solidFill>
                <a:srgbClr val="FF0000"/>
              </a:solidFill>
              <a:prstDash val="dashDot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1B0B1F7-DA51-B291-3D0B-026271F59CA8}"/>
                </a:ext>
              </a:extLst>
            </p:cNvPr>
            <p:cNvSpPr/>
            <p:nvPr/>
          </p:nvSpPr>
          <p:spPr>
            <a:xfrm>
              <a:off x="7956522" y="4391935"/>
              <a:ext cx="3064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lvl="1" indent="0">
                <a:buNone/>
              </a:pPr>
              <a:r>
                <a:rPr lang="en-US" dirty="0">
                  <a:ea typeface="Cambria Math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525812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D6838-B094-799A-A264-013B6BAC9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smoothstep</a:t>
            </a:r>
            <a:r>
              <a:rPr lang="en-US" dirty="0"/>
              <a:t>()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582E1D-76DF-9435-6638-70F3EC4F62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s</a:t>
                </a:r>
                <a:r>
                  <a:rPr lang="en-US" dirty="0" err="1"/>
                  <a:t>moothstep</a:t>
                </a:r>
                <a:r>
                  <a:rPr lang="en-US" dirty="0"/>
                  <a:t>(a, b, t)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dirty="0"/>
                  <a:t>Goes from a to b: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3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𝑡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𝑡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</m:oMath>
                </a14:m>
                <a:endParaRPr lang="en-US" dirty="0">
                  <a:ea typeface="Cambria Math"/>
                </a:endParaRPr>
              </a:p>
              <a:p>
                <a:pPr marL="457200" lvl="1" indent="0">
                  <a:spcBef>
                    <a:spcPts val="0"/>
                  </a:spcBef>
                  <a:buNone/>
                </a:pPr>
                <a:r>
                  <a:rPr lang="en-US" dirty="0"/>
                  <a:t>	t = 0  return a</a:t>
                </a:r>
              </a:p>
              <a:p>
                <a:pPr marL="457200" lvl="1" indent="0">
                  <a:spcBef>
                    <a:spcPts val="0"/>
                  </a:spcBef>
                  <a:buNone/>
                </a:pPr>
                <a:r>
                  <a:rPr lang="en-US" dirty="0"/>
                  <a:t>	t = 1  return b</a:t>
                </a:r>
              </a:p>
              <a:p>
                <a:pPr>
                  <a:spcBef>
                    <a:spcPts val="0"/>
                  </a:spcBef>
                </a:pPr>
                <a:r>
                  <a:rPr lang="en-US" dirty="0"/>
                  <a:t>Let 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dirty="0"/>
                  <a:t>n = </a:t>
                </a:r>
                <a:r>
                  <a:rPr lang="en-US" dirty="0" err="1"/>
                  <a:t>dist</a:t>
                </a:r>
                <a:r>
                  <a:rPr lang="en-US" dirty="0"/>
                  <a:t> – near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dirty="0"/>
                  <a:t>d = far – near  (constant for each frame)</a:t>
                </a:r>
              </a:p>
              <a:p>
                <a:r>
                  <a:rPr lang="en-US" dirty="0" err="1"/>
                  <a:t>smoothstep</a:t>
                </a:r>
                <a:r>
                  <a:rPr lang="en-US" dirty="0"/>
                  <a:t>(0, 1, 1 -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 )   // 0 to 1</a:t>
                </a:r>
              </a:p>
              <a:p>
                <a:pPr lvl="1"/>
                <a:r>
                  <a:rPr lang="en-US" dirty="0" err="1"/>
                  <a:t>dist</a:t>
                </a:r>
                <a:r>
                  <a:rPr lang="en-US" dirty="0"/>
                  <a:t> == near, n = 0, </a:t>
                </a:r>
                <a:r>
                  <a:rPr lang="en-US" dirty="0" err="1"/>
                  <a:t>smoothstep</a:t>
                </a:r>
                <a:r>
                  <a:rPr lang="en-US" dirty="0"/>
                  <a:t>(0, 1, 1): return  1</a:t>
                </a:r>
              </a:p>
              <a:p>
                <a:pPr lvl="1"/>
                <a:r>
                  <a:rPr lang="en-US" dirty="0" err="1"/>
                  <a:t>dist</a:t>
                </a:r>
                <a:r>
                  <a:rPr lang="en-US" dirty="0"/>
                  <a:t> == far, n = d, </a:t>
                </a:r>
                <a:r>
                  <a:rPr lang="en-US" dirty="0" err="1"/>
                  <a:t>smoothstep</a:t>
                </a:r>
                <a:r>
                  <a:rPr lang="en-US" dirty="0"/>
                  <a:t>(0, 1, 0): return 0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582E1D-76DF-9435-6638-70F3EC4F62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81" t="-2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59794BC-5993-44E7-AF20-02A631DDD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6347" y="1400175"/>
            <a:ext cx="3226758" cy="250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9930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E44D5-D70D-688C-0592-9043882FB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Smoothstep with squared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959D850-57F5-9062-EF76-F6FD78D3E0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88139" y="2000250"/>
            <a:ext cx="3941536" cy="20404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753766-70B3-EE77-03F8-8EAF77D70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2952" y="4257674"/>
            <a:ext cx="3974485" cy="21812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75697E6-F049-601D-7B8A-7736EFDC73DD}"/>
                  </a:ext>
                </a:extLst>
              </p:cNvPr>
              <p:cNvSpPr txBox="1"/>
              <p:nvPr/>
            </p:nvSpPr>
            <p:spPr>
              <a:xfrm>
                <a:off x="1143000" y="2565965"/>
                <a:ext cx="4572000" cy="13378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smoothstep(0, 1, 1 -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 )</a:t>
                </a:r>
              </a:p>
              <a:p>
                <a:endParaRPr lang="en-US" dirty="0"/>
              </a:p>
              <a:p>
                <a:r>
                  <a:rPr lang="en-US" dirty="0"/>
                  <a:t>     Bright for longer before</a:t>
                </a:r>
              </a:p>
              <a:p>
                <a:r>
                  <a:rPr lang="en-US" dirty="0"/>
                  <a:t>     dropping to dark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75697E6-F049-601D-7B8A-7736EFDC73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2565965"/>
                <a:ext cx="4572000" cy="1337867"/>
              </a:xfrm>
              <a:prstGeom prst="rect">
                <a:avLst/>
              </a:prstGeom>
              <a:blipFill>
                <a:blip r:embed="rId4"/>
                <a:stretch>
                  <a:fillRect l="-1200" b="-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2498AE0-1EC6-ED71-A21A-5E5826E74161}"/>
                  </a:ext>
                </a:extLst>
              </p:cNvPr>
              <p:cNvSpPr txBox="1"/>
              <p:nvPr/>
            </p:nvSpPr>
            <p:spPr>
              <a:xfrm>
                <a:off x="1238250" y="4871015"/>
                <a:ext cx="4572000" cy="13378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smoothstep(0, 1, 1 -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 )</a:t>
                </a:r>
              </a:p>
              <a:p>
                <a:endParaRPr lang="en-US" dirty="0"/>
              </a:p>
              <a:p>
                <a:r>
                  <a:rPr lang="en-US" dirty="0"/>
                  <a:t>     Bring to dark in typical </a:t>
                </a:r>
              </a:p>
              <a:p>
                <a:r>
                  <a:rPr lang="en-US" dirty="0"/>
                  <a:t>        cubic progression 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2498AE0-1EC6-ED71-A21A-5E5826E741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8250" y="4871015"/>
                <a:ext cx="4572000" cy="1337867"/>
              </a:xfrm>
              <a:prstGeom prst="rect">
                <a:avLst/>
              </a:prstGeom>
              <a:blipFill>
                <a:blip r:embed="rId5"/>
                <a:stretch>
                  <a:fillRect l="-1067" b="-5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21578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How about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 user specify each of the</a:t>
            </a:r>
            <a:br>
              <a:rPr lang="en-US" dirty="0"/>
            </a:br>
            <a:r>
              <a:rPr lang="en-US" dirty="0"/>
              <a:t>components!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 descr="C:\Users\ksung\Desktop\ScreenHunter_01 Sep. 01 16.5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0209" y="2772628"/>
            <a:ext cx="3924300" cy="1438275"/>
          </a:xfrm>
          <a:prstGeom prst="rect">
            <a:avLst/>
          </a:prstGeom>
          <a:noFill/>
          <a:ln>
            <a:solidFill>
              <a:schemeClr val="accent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ksung\Desktop\ScreenHunter_02 Sep. 01 16.55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76"/>
          <a:stretch/>
        </p:blipFill>
        <p:spPr bwMode="auto">
          <a:xfrm>
            <a:off x="917302" y="3380139"/>
            <a:ext cx="3043511" cy="1076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ksung\Desktop\ScreenHunter_03 Sep. 01 16.57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5439" y="5295548"/>
            <a:ext cx="2963862" cy="909441"/>
          </a:xfrm>
          <a:prstGeom prst="rect">
            <a:avLst/>
          </a:prstGeom>
          <a:noFill/>
          <a:ln>
            <a:solidFill>
              <a:schemeClr val="accent3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846138" y="3059668"/>
            <a:ext cx="7620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Maya: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79961" y="2469118"/>
            <a:ext cx="10021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OpenGL: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65439" y="4961994"/>
            <a:ext cx="18836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Our </a:t>
            </a:r>
            <a:r>
              <a:rPr lang="en-US" dirty="0" err="1"/>
              <a:t>ToyRayTracer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0044750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form of </a:t>
            </a:r>
            <a:r>
              <a:rPr lang="en-US" dirty="0" err="1"/>
              <a:t>Phong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20610" y="1721824"/>
                <a:ext cx="8551449" cy="992937"/>
              </a:xfrm>
            </p:spPr>
            <p:txBody>
              <a:bodyPr>
                <a:normAutofit fontScale="40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</a:rPr>
                        <m:t>𝐼</m:t>
                      </m:r>
                      <m:r>
                        <a:rPr lang="en-US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/>
                            </a:rPr>
                            <m:t>𝑖</m:t>
                          </m:r>
                        </m:sub>
                        <m:sup>
                          <m:r>
                            <a:rPr lang="en-US" b="0" i="1" smtClean="0">
                              <a:latin typeface="Cambria Math"/>
                            </a:rPr>
                            <m:t>𝐴𝑙𝑙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𝐿𝑖𝑔h𝑡𝑠</m:t>
                          </m:r>
                        </m:sup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𝑎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𝑑𝑖</m:t>
                                      </m:r>
                                    </m:sub>
                                  </m:sSub>
                                </m:num>
                                <m:den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/>
                                          <a:ea typeface="Cambria Math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/>
                                          <a:ea typeface="Cambria Math"/>
                                        </a:rPr>
                                        <m:t>0</m:t>
                                      </m:r>
                                    </m:sub>
                                    <m:sup/>
                                  </m:sSubSup>
                                  <m:r>
                                    <a:rPr lang="en-US" i="1">
                                      <a:latin typeface="Cambria Math"/>
                                      <a:ea typeface="Cambria Math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/>
                                          <a:ea typeface="Cambria Math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1</m:t>
                                      </m:r>
                                    </m:sub>
                                    <m:sup/>
                                  </m:sSubSup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/>
                                          <a:ea typeface="Cambria Math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/>
                                          <a:ea typeface="Cambria Math"/>
                                        </a:rPr>
                                        <m:t>𝑖</m:t>
                                      </m:r>
                                    </m:sub>
                                    <m:sup/>
                                  </m:sSubSup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/>
                                          <a:ea typeface="Cambria Math"/>
                                        </a:rPr>
                                        <m:t>+</m:t>
                                      </m:r>
                                      <m:sSubSup>
                                        <m:sSub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i="1">
                                              <a:latin typeface="Cambria Math"/>
                                              <a:ea typeface="Cambria Math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/>
                                              <a:ea typeface="Cambria Math"/>
                                            </a:rPr>
                                            <m:t>2</m:t>
                                          </m:r>
                                        </m:sub>
                                        <m:sup/>
                                      </m:sSubSup>
                                      <m:sSubSup>
                                        <m:sSub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i="1">
                                              <a:latin typeface="Cambria Math"/>
                                              <a:ea typeface="Cambria Math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/>
                                              <a:ea typeface="Cambria Math"/>
                                            </a:rPr>
                                            <m:t>𝑖</m:t>
                                          </m:r>
                                        </m:sub>
                                        <m:sup/>
                                      </m:sSubSup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/>
                                          <a:ea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i="1">
                                      <a:latin typeface="Cambria Math"/>
                                      <a:ea typeface="Cambria Math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/>
                                          <a:ea typeface="Cambria Math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/>
                                          <a:ea typeface="Cambria Math"/>
                                        </a:rPr>
                                        <m:t>3</m:t>
                                      </m:r>
                                    </m:sub>
                                    <m:sup/>
                                  </m:sSubSup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pPr>
                                    <m:e>
                                      <m:sSubSup>
                                        <m:sSub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i="1">
                                              <a:latin typeface="Cambria Math"/>
                                              <a:ea typeface="Cambria Math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/>
                                              <a:ea typeface="Cambria Math"/>
                                            </a:rPr>
                                            <m:t>𝑖</m:t>
                                          </m:r>
                                        </m:sub>
                                        <m:sup/>
                                      </m:sSubSup>
                                    </m:e>
                                    <m:sup>
                                      <m:r>
                                        <a:rPr lang="en-US" i="1">
                                          <a:latin typeface="Cambria Math"/>
                                          <a:ea typeface="Cambria Math"/>
                                        </a:rPr>
                                        <m:t>3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en-US" i="1">
                                  <a:latin typeface="Cambria Math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𝑑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/>
                                      <a:ea typeface="Cambria Math"/>
                                    </a:rPr>
                                    <m:t>𝑁</m:t>
                                  </m:r>
                                </m:e>
                              </m:acc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∙</m:t>
                              </m:r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  <m:r>
                            <a:rPr lang="en-US">
                              <a:latin typeface="Cambria Math"/>
                              <a:ea typeface="Cambria Math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𝑠𝑖</m:t>
                                  </m:r>
                                </m:sub>
                              </m:sSub>
                            </m:num>
                            <m:den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/>
                                      <a:ea typeface="Cambria Math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  <a:ea typeface="Cambria Math"/>
                                    </a:rPr>
                                    <m:t>0</m:t>
                                  </m:r>
                                </m:sub>
                                <m:sup/>
                              </m:sSubSup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/>
                                      <a:ea typeface="Cambria Math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  <m:sup/>
                              </m:sSubSup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/>
                                      <a:ea typeface="Cambria Math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  <a:ea typeface="Cambria Math"/>
                                    </a:rPr>
                                    <m:t>𝑖</m:t>
                                  </m:r>
                                </m:sub>
                                <m:sup/>
                              </m:sSubSup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/>
                                      <a:ea typeface="Cambria Math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/>
                                          <a:ea typeface="Cambria Math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/>
                                          <a:ea typeface="Cambria Math"/>
                                        </a:rPr>
                                        <m:t>2</m:t>
                                      </m:r>
                                    </m:sub>
                                    <m:sup/>
                                  </m:sSubSup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/>
                                          <a:ea typeface="Cambria Math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/>
                                          <a:ea typeface="Cambria Math"/>
                                        </a:rPr>
                                        <m:t>𝑖</m:t>
                                      </m:r>
                                    </m:sub>
                                    <m:sup/>
                                  </m:sSubSup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/>
                                      <a:ea typeface="Cambria Math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  <a:ea typeface="Cambria Math"/>
                                    </a:rPr>
                                    <m:t>3</m:t>
                                  </m:r>
                                </m:sub>
                                <m:sup/>
                              </m:sSubSup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/>
                                          <a:ea typeface="Cambria Math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/>
                                          <a:ea typeface="Cambria Math"/>
                                        </a:rPr>
                                        <m:t>𝑖</m:t>
                                      </m:r>
                                    </m:sub>
                                    <m:sup/>
                                  </m:sSubSup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  <a:ea typeface="Cambria Math"/>
                                    </a:rPr>
                                    <m:t>3</m:t>
                                  </m:r>
                                </m:sup>
                              </m:sSup>
                            </m:den>
                          </m:f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𝑠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/>
                                          <a:ea typeface="Cambria Math"/>
                                        </a:rPr>
                                        <m:t>𝑉</m:t>
                                      </m:r>
                                    </m:e>
                                  </m:acc>
                                  <m:r>
                                    <a:rPr lang="en-US" i="1">
                                      <a:latin typeface="Cambria Math"/>
                                      <a:ea typeface="Cambria Math"/>
                                    </a:rPr>
                                    <m:t>∙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0610" y="1721824"/>
                <a:ext cx="8551449" cy="992937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252890" y="2875002"/>
            <a:ext cx="27865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Our Ray Tracer implements: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2"/>
              <p:cNvSpPr txBox="1">
                <a:spLocks/>
              </p:cNvSpPr>
              <p:nvPr/>
            </p:nvSpPr>
            <p:spPr>
              <a:xfrm>
                <a:off x="484110" y="3620474"/>
                <a:ext cx="8551449" cy="99293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62500" lnSpcReduction="20000"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</a:rPr>
                        <m:t>𝐼</m:t>
                      </m:r>
                      <m:r>
                        <a:rPr lang="en-US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𝑎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 smtClean="0">
                              <a:latin typeface="Cambria Math"/>
                            </a:rPr>
                            <m:t>𝑖</m:t>
                          </m:r>
                        </m:sub>
                        <m:sup>
                          <m:r>
                            <a:rPr lang="en-US" i="1" smtClean="0">
                              <a:latin typeface="Cambria Math"/>
                            </a:rPr>
                            <m:t>𝐴𝑙𝑙</m:t>
                          </m:r>
                          <m:r>
                            <a:rPr lang="en-US" i="1" smtClean="0">
                              <a:latin typeface="Cambria Math"/>
                            </a:rPr>
                            <m:t> </m:t>
                          </m:r>
                          <m:r>
                            <a:rPr lang="en-US" i="1" smtClean="0">
                              <a:latin typeface="Cambria Math"/>
                            </a:rPr>
                            <m:t>𝐿𝑖𝑔h𝑡𝑠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𝑑𝑖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𝑑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/>
                                          <a:ea typeface="Cambria Math"/>
                                        </a:rPr>
                                        <m:t>𝑁</m:t>
                                      </m:r>
                                    </m:e>
                                  </m:acc>
                                  <m:r>
                                    <a:rPr lang="en-US" i="1">
                                      <a:latin typeface="Cambria Math"/>
                                      <a:ea typeface="Cambria Math"/>
                                    </a:rPr>
                                    <m:t>∙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  <m:r>
                                <a:rPr lang="en-US">
                                  <a:latin typeface="Cambria Math"/>
                                  <a:ea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𝑠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latin typeface="Cambria Math"/>
                                              <a:ea typeface="Cambria Math"/>
                                            </a:rPr>
                                            <m:t>𝑉</m:t>
                                          </m:r>
                                        </m:e>
                                      </m:acc>
                                      <m:r>
                                        <a:rPr lang="en-US" i="1">
                                          <a:latin typeface="Cambria Math"/>
                                          <a:ea typeface="Cambria Math"/>
                                        </a:rPr>
                                        <m:t>∙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/>
                                                </a:rPr>
                                                <m:t>𝑅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110" y="3620474"/>
                <a:ext cx="8551449" cy="992937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4161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3162</TotalTime>
  <Words>914</Words>
  <Application>Microsoft Office PowerPoint</Application>
  <PresentationFormat>On-screen Show (4:3)</PresentationFormat>
  <Paragraphs>167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 Math</vt:lpstr>
      <vt:lpstr>Wingdings</vt:lpstr>
      <vt:lpstr>Office Theme</vt:lpstr>
      <vt:lpstr>Lights in the Phong Model</vt:lpstr>
      <vt:lpstr>Light source direction: L ̂</vt:lpstr>
      <vt:lpstr>What is Ambient Light?</vt:lpstr>
      <vt:lpstr>What about the Sun?</vt:lpstr>
      <vt:lpstr>Directional Light</vt:lpstr>
      <vt:lpstr>What about the Light Bulb?</vt:lpstr>
      <vt:lpstr>Point Light</vt:lpstr>
      <vt:lpstr>Now, my desk lamp</vt:lpstr>
      <vt:lpstr>Spot Light</vt:lpstr>
      <vt:lpstr>PowerPoint Presentation</vt:lpstr>
      <vt:lpstr>Spotlight bounds</vt:lpstr>
      <vt:lpstr>Drop off behavior</vt:lpstr>
      <vt:lpstr>PowerPoint Presentation</vt:lpstr>
      <vt:lpstr>Implement Penumbra Region</vt:lpstr>
      <vt:lpstr>Distance Attenuation</vt:lpstr>
      <vt:lpstr>Distance Attenuation implementation</vt:lpstr>
      <vt:lpstr>The smoothstep() function</vt:lpstr>
      <vt:lpstr>Smoothstep with squared</vt:lpstr>
      <vt:lpstr>How about I_L?</vt:lpstr>
      <vt:lpstr>General form of Phong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Photograph of two papers</dc:title>
  <dc:creator>Kelvin Sung</dc:creator>
  <cp:lastModifiedBy>Kelvin Sung</cp:lastModifiedBy>
  <cp:revision>534</cp:revision>
  <dcterms:created xsi:type="dcterms:W3CDTF">2006-08-16T00:00:00Z</dcterms:created>
  <dcterms:modified xsi:type="dcterms:W3CDTF">2026-01-27T23:16:04Z</dcterms:modified>
</cp:coreProperties>
</file>